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0ad178-cdff-1fac-d9ec-970893bdaa62}">
          <p14:sldIdLst>
            <p14:sldId id="256"/>
            <p14:sldId id="257"/>
            <p14:sldId id="258"/>
            <p14:sldId id="259"/>
          </p14:sldIdLst>
        </p14:section>
        <p14:section name="The solar car" id="{f85d4d97-8332-601d-0df0-b372e215b15d}">
          <p14:sldIdLst>
            <p14:sldId id="260"/>
            <p14:sldId id="261"/>
            <p14:sldId id="262"/>
            <p14:sldId id="263"/>
            <p14:sldId id="264"/>
            <p14:sldId id="265"/>
            <p14:sldId id="266"/>
            <p14:sldId id="267"/>
          </p14:sldIdLst>
        </p14:section>
        <p14:section name="Wrap-up" id="{ad674eff-c3c0-95b7-1973-905689b5a6f8}">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Jonathan. I'm a final-year Mechatronics Engineering student at UCT. Today I'll show you the solar-powered car I built for my final-year project, and how one project like this brings together several kinds of engineering. At the end, you'll get to drive it yourselves through a maze. (Check first: everyone has filled in Side 1 of their sheet and is keeping it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engineering journey started where you are now, in Grade 11. A careers advisor told me I had an aptitude for electronics engineering, a field I'd never heard of. To find out if it was for me, I built a little car that moved when you shone light on it. It had one motor, a battery, a transistor, which is an electronic switch, and an LDR, a resistor whose resistance drops when light hits it. Light on the LDR switched the transistor on, and the motor turned. I even made the front wheel from a candle. It was simple, but seeing how my siblings reacted showed me how much there is to learn and achieve in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engineers actually do? Picture three people. A scientist discovers how the world works, often just to understand it better. A technician is a specialist who builds, maintains and repairs a particular system. The engineer sits in the middle: they understand the science well enough to apply it in new ways to solve real problems. For example, an electrician knows how to wire a house, while an electrical engineer designs the electrical system and the appliances, and can suggest how to make them better. Engineers design; technicians build and maintain; both are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Mechatronics, in UCT's Electrical Engineering department. Few universities in South Africa offer it. Engineers are problem solvers, and names like mechanical, chemical or electrical just describe the kind of problem they are trained to solve. Mechatronics sits where mechanical, electrical and computer engineering overlap, so we specialise in integration: making those parts work together in one system, like a robot, a drone or a car. My course leans towards the electrical and computer side, with some mechanical.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show all of that in one project? This is my final-year thesis: a small solar-powered car, built to show how useful renewable energy is, and to be something you can interact with. On the left is the computer design; on the right is the real thing. I'll walk you through each part and the kind of engineering behind it: electrical, mechanical, renewable energy and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electrical side, my strongest area. The car has three circuits: the power system, the drive system that controls the motors and steering, and the solar tracker on top. Engineers don't reinvent the wheel: we buy proven parts where they exist and design circuits ourselves where they don't, and this car uses both. The biggest job is managing power. You need enough energy for everything, but it must be controlled, because power is a double-edged sword: necessary, but dangerous if it isn't managed. The same ideas are in devices you use every day: your phone charger controls the power going into a battery, a solar garden light stores the day's sun, and a TV remote uses a sensor and a tiny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mechanical side. Every part was designed in CAD software, then 3D-printed in plastic or laser-cut from clear acrylic, so you can see the electronics inside. The angled nose and tail copy the shapes real cars use to slip through the air. If you've run into the wind in Cape Town, you know air pushes back, and at highway speeds that becomes a big energy cost. But air drag only matters at high speed, and my car is slow, so here the shape is mostly for show. Knowing when a design choice really matters is part of engineering. What did matter was weight: force equals mass times acceleration, so a lighter car needs less force, and less energy, to move. In a real car, engineers also calculate the stresses each part carries to choose the right materials and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solar tracker on top is the other mechanical feature. It uses gears, which change speed, turning force (called torque) and direction. Gears look simple, but you can't just put teeth on a circle: the number of teeth and the sizes of two meshing gears must follow exact ratios. The tracker uses two small motors, one to turn the panel and one to tilt it, so the panel faces the brightest light. This video shows it working in the lab: as the light moves, the panel follows it. (Play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renewable energy: solar, wind and hydro are the big three. Electricity is just the easiest way to move and use energy, and most power stations, even coal ones, convert one kind of energy into electricity. Solar panels are made from a special material called a semiconductor. Light is made of tiny packets of energy called photons; you feel their energy as warmth on your face. When photons hit the panel, they give that energy to electrons in the material and free them to flow through a circuit. That flow is electricity. Bigger panels catch more light, so they make more power. This is a growing career area: engineers design solar farms, battery systems and electric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Sunlight isn't steady: clouds and the panel's angle change the power all the time, and electronics need steady, controlled power. So the panel doesn't drive the car directly. A solar controller conditions the power and charges the battery, and the battery runs the car. Solar garden lights and many home solar systems work the same way: capture energy, store it, use it later. Solar also extends how long the battery lasts: in the sun, the panel supplies part of the power the car needs, so the battery does less work. (Show the live dashboard on the projector: point out the solar power reading.) This panel is small and not very efficient, but real panels are much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discipline is computer engineering, which shows up in embedded systems. At the centre of almost every modern device is a microcontroller, a small computer on a chip. It reads sensors, makes decisions and sends commands to motors. My car has two: an ESP32, which drives the car, reads the distance and speed sensors and runs the Wi-Fi, and an Arduino Nano, which reads four light sensors and moves the tracker. Engineers must both design the circuits around these chips and program them to do exactly what's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drive the car from a phone. The car creates its own Wi-Fi network, and your phone connects directly to it. Connecting devices wirelessly like this is called the Internet of Things, or IoT. The controls are a web page I wrote: HTML lays out the page, CSS styles it, and JavaScript makes the buttons and live readings work, just like any website. The dashboard updates about ten times a second with the speed, battery level, solar power and distance sensors, so you can see exactly what the car is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bring it together: mechanical engineering gives us the body, the gears and the tracker; electrical engineering gives us the power circuits, motors and sensors; computer engineering gives us the two microcontrollers and the dashboard; and renewable energy keeps the battery topped up. None of these parts works without the others. That's what real engineering projects look like: different disciplines working together on one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 of this interests you, here's how to get here. In Grades 11 and 12, take Mathematics, not Maths Literacy, and Physical Sciences, and aim high in both, because engineering faculties require them. Then comes a four-year engineering degree. Look up the different kinds of engineering, such as Mechatronics, Electrical, Mechanical, Civil, Chemical and Computer, and the growing renewable-energy field, and see which problems excite you. Remember, I started exactly where you are now, in Grade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 turn. I've set up a small maze. In pairs, each of you drives the car through it, from one end to the other, using the phone. One run is in manual mode, where you do all the steering, and one is with co-pilot on, a mode I designed where the car helps steer away from walls and stops before it crashes. Some of you will start with co-pilot and some with manual. Try both and decide for yourself whether co-pilot makes a difference; there's no right answer, so be honest. Everyone else, watch the live dashboard on the screen. (Play video as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Does anyone have a question before we start the demo? (After the demo: hand out the reminder to complete Side 2 straight away, before the next presenter starts. Collect the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971800"/>
            <a:ext cx="4754880" cy="109728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rgbClr val="0B2545"/>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jpe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lIns="0" tIns="0" rIns="0" bIns="0" rtlCol="0" anchor="b"/>
          <a:lstStyle/>
          <a:p>
            <a:pPr algn="l" indent="0" marL="0">
              <a:buNone/>
            </a:pPr>
            <a:r>
              <a:rPr lang="en-US" sz="4000" b="1" dirty="0">
                <a:solidFill>
                  <a:srgbClr val="FFFFFF"/>
                </a:solidFill>
              </a:rPr>
              <a:t>Engineering a Solar Car</a:t>
            </a:r>
            <a:endParaRPr lang="en-US" sz="4000" dirty="0"/>
          </a:p>
        </p:txBody>
      </p:sp>
      <p:sp>
        <p:nvSpPr>
          <p:cNvPr id="3" name="Text 0"/>
          <p:cNvSpPr/>
          <p:nvPr>
            <p:ph idx="101" type="body" hasCustomPrompt="1"/>
          </p:nvPr>
        </p:nvSpPr>
        <p:spPr>
          <a:xfrm>
            <a:off x="548640" y="2971800"/>
            <a:ext cx="4754880" cy="1097280"/>
          </a:xfrm>
          <a:prstGeom prst="rect">
            <a:avLst/>
          </a:prstGeom>
          <a:noFill/>
          <a:ln/>
        </p:spPr>
        <p:txBody>
          <a:bodyPr wrap="square" lIns="0" tIns="0" rIns="0" bIns="0" rtlCol="0" anchor="t"/>
          <a:lstStyle/>
          <a:p>
            <a:pPr algn="l" indent="0" marL="0">
              <a:buNone/>
            </a:pPr>
            <a:r>
              <a:rPr lang="en-US" sz="1800" dirty="0">
                <a:solidFill>
                  <a:srgbClr val="CADCFC"/>
                </a:solidFill>
              </a:rPr>
              <a:t>Jonathan Tirkaso · Mechatronics Engineering, University of Cape Town</a:t>
            </a:r>
            <a:endParaRPr lang="en-US" sz="1800" dirty="0"/>
          </a:p>
        </p:txBody>
      </p:sp>
      <p:sp>
        <p:nvSpPr>
          <p:cNvPr id="4" name="Shape 2"/>
          <p:cNvSpPr/>
          <p:nvPr/>
        </p:nvSpPr>
        <p:spPr>
          <a:xfrm>
            <a:off x="5394960" y="640080"/>
            <a:ext cx="3383280" cy="3840480"/>
          </a:xfrm>
          <a:prstGeom prst="roundRect">
            <a:avLst>
              <a:gd name="adj" fmla="val 4054"/>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5486400" y="777240"/>
            <a:ext cx="3200400" cy="30266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Where it started: Grade 11</a:t>
            </a:r>
            <a:endParaRPr lang="en-US" sz="3200" dirty="0"/>
          </a:p>
        </p:txBody>
      </p:sp>
      <p:pic>
        <p:nvPicPr>
          <p:cNvPr id="3" name="Image 0" descr="preencoded.png">    </p:cNvPr>
          <p:cNvPicPr>
            <a:picLocks noChangeAspect="1"/>
          </p:cNvPicPr>
          <p:nvPr/>
        </p:nvPicPr>
        <p:blipFill>
          <a:blip r:embed="rId1"/>
          <a:stretch>
            <a:fillRect/>
          </a:stretch>
        </p:blipFill>
        <p:spPr>
          <a:xfrm>
            <a:off x="457200" y="1188720"/>
            <a:ext cx="1920240" cy="1440180"/>
          </a:xfrm>
          <a:prstGeom prst="rect">
            <a:avLst/>
          </a:prstGeom>
        </p:spPr>
      </p:pic>
      <p:pic>
        <p:nvPicPr>
          <p:cNvPr id="4" name="Image 1" descr="preencoded.png">    </p:cNvPr>
          <p:cNvPicPr>
            <a:picLocks noChangeAspect="1"/>
          </p:cNvPicPr>
          <p:nvPr/>
        </p:nvPicPr>
        <p:blipFill>
          <a:blip r:embed="rId2"/>
          <a:stretch>
            <a:fillRect/>
          </a:stretch>
        </p:blipFill>
        <p:spPr>
          <a:xfrm>
            <a:off x="2468880" y="1188720"/>
            <a:ext cx="1920240" cy="1440180"/>
          </a:xfrm>
          <a:prstGeom prst="rect">
            <a:avLst/>
          </a:prstGeom>
        </p:spPr>
      </p:pic>
      <p:pic>
        <p:nvPicPr>
          <p:cNvPr id="5" name="Image 2" descr="preencoded.png">    </p:cNvPr>
          <p:cNvPicPr>
            <a:picLocks noChangeAspect="1"/>
          </p:cNvPicPr>
          <p:nvPr/>
        </p:nvPicPr>
        <p:blipFill>
          <a:blip r:embed="rId3"/>
          <a:stretch>
            <a:fillRect/>
          </a:stretch>
        </p:blipFill>
        <p:spPr>
          <a:xfrm>
            <a:off x="457200" y="2743200"/>
            <a:ext cx="1920240" cy="1440180"/>
          </a:xfrm>
          <a:prstGeom prst="rect">
            <a:avLst/>
          </a:prstGeom>
        </p:spPr>
      </p:pic>
      <p:pic>
        <p:nvPicPr>
          <p:cNvPr id="6" name="Image 3" descr="preencoded.png">    </p:cNvPr>
          <p:cNvPicPr>
            <a:picLocks noChangeAspect="1"/>
          </p:cNvPicPr>
          <p:nvPr/>
        </p:nvPicPr>
        <p:blipFill>
          <a:blip r:embed="rId4"/>
          <a:stretch>
            <a:fillRect/>
          </a:stretch>
        </p:blipFill>
        <p:spPr>
          <a:xfrm>
            <a:off x="2468880" y="2743200"/>
            <a:ext cx="1920240" cy="1440180"/>
          </a:xfrm>
          <a:prstGeom prst="rect">
            <a:avLst/>
          </a:prstGeom>
        </p:spPr>
      </p:pic>
      <p:sp>
        <p:nvSpPr>
          <p:cNvPr id="7" name="Text 1"/>
          <p:cNvSpPr txBox="1"/>
          <p:nvPr/>
        </p:nvSpPr>
        <p:spPr>
          <a:xfrm>
            <a:off x="457200" y="4297680"/>
            <a:ext cx="3931920" cy="274320"/>
          </a:xfrm>
          <a:prstGeom prst="rect">
            <a:avLst/>
          </a:prstGeom>
          <a:noFill/>
          <a:ln/>
        </p:spPr>
        <p:txBody>
          <a:bodyPr wrap="square" lIns="0" tIns="0" rIns="0" bIns="0" rtlCol="0" anchor="t"/>
          <a:lstStyle/>
          <a:p>
            <a:pPr indent="0" marL="0">
              <a:buNone/>
            </a:pPr>
            <a:r>
              <a:rPr lang="en-US" sz="1100" i="1" dirty="0">
                <a:solidFill>
                  <a:srgbClr val="5A6472"/>
                </a:solidFill>
              </a:rPr>
              <a:t>Version 1 in a plastic tray (top), version 2 in cardboard (bottom)</a:t>
            </a:r>
            <a:endParaRPr lang="en-US" sz="1100" dirty="0"/>
          </a:p>
        </p:txBody>
      </p:sp>
      <p:sp>
        <p:nvSpPr>
          <p:cNvPr id="8" name="Text 2"/>
          <p:cNvSpPr txBox="1"/>
          <p:nvPr/>
        </p:nvSpPr>
        <p:spPr>
          <a:xfrm>
            <a:off x="4754880" y="1188720"/>
            <a:ext cx="3931920" cy="822960"/>
          </a:xfrm>
          <a:prstGeom prst="rect">
            <a:avLst/>
          </a:prstGeom>
          <a:noFill/>
          <a:ln/>
        </p:spPr>
        <p:txBody>
          <a:bodyPr wrap="square" lIns="0" tIns="0" rIns="0" bIns="0" rtlCol="0" anchor="t"/>
          <a:lstStyle/>
          <a:p>
            <a:pPr indent="0" marL="0">
              <a:buNone/>
            </a:pPr>
            <a:r>
              <a:rPr lang="en-US" sz="1600" dirty="0">
                <a:solidFill>
                  <a:srgbClr val="1B1B1F"/>
                </a:solidFill>
              </a:rPr>
              <a:t>A careers advisor said I might suit electronics engineering, so I built a car that moved when light shone on it.</a:t>
            </a:r>
            <a:endParaRPr lang="en-US" sz="1600" dirty="0"/>
          </a:p>
        </p:txBody>
      </p:sp>
      <p:sp>
        <p:nvSpPr>
          <p:cNvPr id="9" name="Shape 3"/>
          <p:cNvSpPr/>
          <p:nvPr/>
        </p:nvSpPr>
        <p:spPr>
          <a:xfrm>
            <a:off x="4754880" y="2103120"/>
            <a:ext cx="411480" cy="411480"/>
          </a:xfrm>
          <a:prstGeom prst="ellipse">
            <a:avLst/>
          </a:prstGeom>
          <a:solidFill>
            <a:srgbClr val="F2A900"/>
          </a:solidFill>
          <a:ln w="12700">
            <a:solidFill>
              <a:srgbClr val="F2A900"/>
            </a:solidFill>
            <a:prstDash val="solid"/>
          </a:ln>
        </p:spPr>
      </p:sp>
      <p:pic>
        <p:nvPicPr>
          <p:cNvPr id="10" name="Image 4" descr="preencoded.png">    </p:cNvPr>
          <p:cNvPicPr>
            <a:picLocks noChangeAspect="1"/>
          </p:cNvPicPr>
          <p:nvPr/>
        </p:nvPicPr>
        <p:blipFill>
          <a:blip r:embed="rId5"/>
          <a:stretch>
            <a:fillRect/>
          </a:stretch>
        </p:blipFill>
        <p:spPr>
          <a:xfrm>
            <a:off x="4845406" y="2193646"/>
            <a:ext cx="230429" cy="230429"/>
          </a:xfrm>
          <a:prstGeom prst="rect">
            <a:avLst/>
          </a:prstGeom>
        </p:spPr>
      </p:pic>
      <p:sp>
        <p:nvSpPr>
          <p:cNvPr id="11" name="Text 4"/>
          <p:cNvSpPr txBox="1"/>
          <p:nvPr/>
        </p:nvSpPr>
        <p:spPr>
          <a:xfrm>
            <a:off x="5303520" y="2103120"/>
            <a:ext cx="3383280" cy="411480"/>
          </a:xfrm>
          <a:prstGeom prst="rect">
            <a:avLst/>
          </a:prstGeom>
          <a:noFill/>
          <a:ln/>
        </p:spPr>
        <p:txBody>
          <a:bodyPr wrap="square" lIns="0" tIns="0" rIns="0" bIns="0" rtlCol="0" anchor="ctr"/>
          <a:lstStyle/>
          <a:p>
            <a:pPr indent="0" marL="0">
              <a:buNone/>
            </a:pPr>
            <a:r>
              <a:rPr lang="en-US" sz="1500" dirty="0">
                <a:solidFill>
                  <a:srgbClr val="1B1B1F"/>
                </a:solidFill>
              </a:rPr>
              <a:t>Battery and one motor</a:t>
            </a:r>
            <a:endParaRPr lang="en-US" sz="1500" dirty="0"/>
          </a:p>
        </p:txBody>
      </p:sp>
      <p:sp>
        <p:nvSpPr>
          <p:cNvPr id="12" name="Shape 5"/>
          <p:cNvSpPr/>
          <p:nvPr/>
        </p:nvSpPr>
        <p:spPr>
          <a:xfrm>
            <a:off x="4754880" y="2670048"/>
            <a:ext cx="411480" cy="411480"/>
          </a:xfrm>
          <a:prstGeom prst="ellipse">
            <a:avLst/>
          </a:prstGeom>
          <a:solidFill>
            <a:srgbClr val="2E9E4F"/>
          </a:solidFill>
          <a:ln w="12700">
            <a:solidFill>
              <a:srgbClr val="2E9E4F"/>
            </a:solidFill>
            <a:prstDash val="solid"/>
          </a:ln>
        </p:spPr>
      </p:sp>
      <p:pic>
        <p:nvPicPr>
          <p:cNvPr id="13" name="Image 5" descr="preencoded.png">    </p:cNvPr>
          <p:cNvPicPr>
            <a:picLocks noChangeAspect="1"/>
          </p:cNvPicPr>
          <p:nvPr/>
        </p:nvPicPr>
        <p:blipFill>
          <a:blip r:embed="rId6"/>
          <a:stretch>
            <a:fillRect/>
          </a:stretch>
        </p:blipFill>
        <p:spPr>
          <a:xfrm>
            <a:off x="4845406" y="2760574"/>
            <a:ext cx="230429" cy="230429"/>
          </a:xfrm>
          <a:prstGeom prst="rect">
            <a:avLst/>
          </a:prstGeom>
        </p:spPr>
      </p:pic>
      <p:sp>
        <p:nvSpPr>
          <p:cNvPr id="14" name="Text 6"/>
          <p:cNvSpPr txBox="1"/>
          <p:nvPr/>
        </p:nvSpPr>
        <p:spPr>
          <a:xfrm>
            <a:off x="5303520" y="2670048"/>
            <a:ext cx="3383280" cy="411480"/>
          </a:xfrm>
          <a:prstGeom prst="rect">
            <a:avLst/>
          </a:prstGeom>
          <a:noFill/>
          <a:ln/>
        </p:spPr>
        <p:txBody>
          <a:bodyPr wrap="square" lIns="0" tIns="0" rIns="0" bIns="0" rtlCol="0" anchor="ctr"/>
          <a:lstStyle/>
          <a:p>
            <a:pPr indent="0" marL="0">
              <a:buNone/>
            </a:pPr>
            <a:r>
              <a:rPr lang="en-US" sz="1500" dirty="0">
                <a:solidFill>
                  <a:srgbClr val="1B1B1F"/>
                </a:solidFill>
              </a:rPr>
              <a:t>Light sensor (LDR): resistance drops in light</a:t>
            </a:r>
            <a:endParaRPr lang="en-US" sz="1500" dirty="0"/>
          </a:p>
        </p:txBody>
      </p:sp>
      <p:sp>
        <p:nvSpPr>
          <p:cNvPr id="15" name="Shape 7"/>
          <p:cNvSpPr/>
          <p:nvPr/>
        </p:nvSpPr>
        <p:spPr>
          <a:xfrm>
            <a:off x="4754880" y="3236976"/>
            <a:ext cx="411480" cy="411480"/>
          </a:xfrm>
          <a:prstGeom prst="ellipse">
            <a:avLst/>
          </a:prstGeom>
          <a:solidFill>
            <a:srgbClr val="F2A900"/>
          </a:solidFill>
          <a:ln w="12700">
            <a:solidFill>
              <a:srgbClr val="F2A900"/>
            </a:solidFill>
            <a:prstDash val="solid"/>
          </a:ln>
        </p:spPr>
      </p:sp>
      <p:pic>
        <p:nvPicPr>
          <p:cNvPr id="16" name="Image 6" descr="preencoded.png">    </p:cNvPr>
          <p:cNvPicPr>
            <a:picLocks noChangeAspect="1"/>
          </p:cNvPicPr>
          <p:nvPr/>
        </p:nvPicPr>
        <p:blipFill>
          <a:blip r:embed="rId7"/>
          <a:stretch>
            <a:fillRect/>
          </a:stretch>
        </p:blipFill>
        <p:spPr>
          <a:xfrm>
            <a:off x="4845406" y="3327502"/>
            <a:ext cx="230429" cy="230429"/>
          </a:xfrm>
          <a:prstGeom prst="rect">
            <a:avLst/>
          </a:prstGeom>
        </p:spPr>
      </p:pic>
      <p:sp>
        <p:nvSpPr>
          <p:cNvPr id="17" name="Text 8"/>
          <p:cNvSpPr txBox="1"/>
          <p:nvPr/>
        </p:nvSpPr>
        <p:spPr>
          <a:xfrm>
            <a:off x="5303520" y="3236976"/>
            <a:ext cx="3383280" cy="411480"/>
          </a:xfrm>
          <a:prstGeom prst="rect">
            <a:avLst/>
          </a:prstGeom>
          <a:noFill/>
          <a:ln/>
        </p:spPr>
        <p:txBody>
          <a:bodyPr wrap="square" lIns="0" tIns="0" rIns="0" bIns="0" rtlCol="0" anchor="ctr"/>
          <a:lstStyle/>
          <a:p>
            <a:pPr indent="0" marL="0">
              <a:buNone/>
            </a:pPr>
            <a:r>
              <a:rPr lang="en-US" sz="1500" dirty="0">
                <a:solidFill>
                  <a:srgbClr val="1B1B1F"/>
                </a:solidFill>
              </a:rPr>
              <a:t>Transistor: an electronic switch</a:t>
            </a:r>
            <a:endParaRPr lang="en-US" sz="1500" dirty="0"/>
          </a:p>
        </p:txBody>
      </p:sp>
      <p:sp>
        <p:nvSpPr>
          <p:cNvPr id="18" name="Shape 9"/>
          <p:cNvSpPr/>
          <p:nvPr/>
        </p:nvSpPr>
        <p:spPr>
          <a:xfrm>
            <a:off x="4754880" y="3803904"/>
            <a:ext cx="411480" cy="411480"/>
          </a:xfrm>
          <a:prstGeom prst="ellipse">
            <a:avLst/>
          </a:prstGeom>
          <a:solidFill>
            <a:srgbClr val="2E9E4F"/>
          </a:solidFill>
          <a:ln w="12700">
            <a:solidFill>
              <a:srgbClr val="2E9E4F"/>
            </a:solidFill>
            <a:prstDash val="solid"/>
          </a:ln>
        </p:spPr>
      </p:sp>
      <p:pic>
        <p:nvPicPr>
          <p:cNvPr id="19" name="Image 7" descr="preencoded.png">    </p:cNvPr>
          <p:cNvPicPr>
            <a:picLocks noChangeAspect="1"/>
          </p:cNvPicPr>
          <p:nvPr/>
        </p:nvPicPr>
        <p:blipFill>
          <a:blip r:embed="rId8"/>
          <a:stretch>
            <a:fillRect/>
          </a:stretch>
        </p:blipFill>
        <p:spPr>
          <a:xfrm>
            <a:off x="4845406" y="3894430"/>
            <a:ext cx="230429" cy="230429"/>
          </a:xfrm>
          <a:prstGeom prst="rect">
            <a:avLst/>
          </a:prstGeom>
        </p:spPr>
      </p:pic>
      <p:sp>
        <p:nvSpPr>
          <p:cNvPr id="20" name="Text 10"/>
          <p:cNvSpPr txBox="1"/>
          <p:nvPr/>
        </p:nvSpPr>
        <p:spPr>
          <a:xfrm>
            <a:off x="5303520" y="3803904"/>
            <a:ext cx="3383280" cy="411480"/>
          </a:xfrm>
          <a:prstGeom prst="rect">
            <a:avLst/>
          </a:prstGeom>
          <a:noFill/>
          <a:ln/>
        </p:spPr>
        <p:txBody>
          <a:bodyPr wrap="square" lIns="0" tIns="0" rIns="0" bIns="0" rtlCol="0" anchor="ctr"/>
          <a:lstStyle/>
          <a:p>
            <a:pPr indent="0" marL="0">
              <a:buNone/>
            </a:pPr>
            <a:r>
              <a:rPr lang="en-US" sz="1500" dirty="0">
                <a:solidFill>
                  <a:srgbClr val="1B1B1F"/>
                </a:solidFill>
              </a:rPr>
              <a:t>Front wheel made from a candle</a:t>
            </a:r>
            <a:endParaRPr lang="en-US" sz="1500" dirty="0"/>
          </a:p>
        </p:txBody>
      </p:sp>
      <p:sp>
        <p:nvSpPr>
          <p:cNvPr id="21" name="Text 11"/>
          <p:cNvSpPr txBox="1"/>
          <p:nvPr/>
        </p:nvSpPr>
        <p:spPr>
          <a:xfrm>
            <a:off x="4754880" y="4434840"/>
            <a:ext cx="3931920" cy="411480"/>
          </a:xfrm>
          <a:prstGeom prst="rect">
            <a:avLst/>
          </a:prstGeom>
          <a:noFill/>
          <a:ln/>
        </p:spPr>
        <p:txBody>
          <a:bodyPr wrap="square" lIns="0" tIns="0" rIns="0" bIns="0" rtlCol="0" anchor="t"/>
          <a:lstStyle/>
          <a:p>
            <a:pPr indent="0" marL="0">
              <a:buNone/>
            </a:pPr>
            <a:r>
              <a:rPr lang="en-US" sz="1500" i="1" dirty="0">
                <a:solidFill>
                  <a:srgbClr val="1C6EA4"/>
                </a:solidFill>
              </a:rPr>
              <a:t>Engineering is learning what you need to know to get things done.</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Scientist, engineer or technician?</a:t>
            </a:r>
            <a:endParaRPr lang="en-US" sz="3200" dirty="0"/>
          </a:p>
        </p:txBody>
      </p:sp>
      <p:sp>
        <p:nvSpPr>
          <p:cNvPr id="3" name="Shape 1"/>
          <p:cNvSpPr/>
          <p:nvPr/>
        </p:nvSpPr>
        <p:spPr>
          <a:xfrm>
            <a:off x="457200" y="1234440"/>
            <a:ext cx="2606040" cy="2514600"/>
          </a:xfrm>
          <a:prstGeom prst="roundRect">
            <a:avLst>
              <a:gd name="adj" fmla="val 4364"/>
            </a:avLst>
          </a:prstGeom>
          <a:solidFill>
            <a:srgbClr val="EEF3F8"/>
          </a:solidFill>
          <a:ln w="12700">
            <a:solidFill>
              <a:srgbClr val="EEF3F8"/>
            </a:solidFill>
            <a:prstDash val="solid"/>
          </a:ln>
        </p:spPr>
      </p:sp>
      <p:sp>
        <p:nvSpPr>
          <p:cNvPr id="4" name="Shape 2"/>
          <p:cNvSpPr/>
          <p:nvPr/>
        </p:nvSpPr>
        <p:spPr>
          <a:xfrm>
            <a:off x="1463040" y="1417320"/>
            <a:ext cx="594360" cy="594360"/>
          </a:xfrm>
          <a:prstGeom prst="ellipse">
            <a:avLst/>
          </a:prstGeom>
          <a:solidFill>
            <a:srgbClr val="D6E2EE"/>
          </a:solidFill>
          <a:ln w="12700">
            <a:solidFill>
              <a:srgbClr val="D6E2EE"/>
            </a:solidFill>
            <a:prstDash val="solid"/>
          </a:ln>
        </p:spPr>
      </p:sp>
      <p:pic>
        <p:nvPicPr>
          <p:cNvPr id="5" name="Image 0" descr="preencoded.png">    </p:cNvPr>
          <p:cNvPicPr>
            <a:picLocks noChangeAspect="1"/>
          </p:cNvPicPr>
          <p:nvPr/>
        </p:nvPicPr>
        <p:blipFill>
          <a:blip r:embed="rId1"/>
          <a:stretch>
            <a:fillRect/>
          </a:stretch>
        </p:blipFill>
        <p:spPr>
          <a:xfrm>
            <a:off x="1593799" y="1548079"/>
            <a:ext cx="332842" cy="332842"/>
          </a:xfrm>
          <a:prstGeom prst="rect">
            <a:avLst/>
          </a:prstGeom>
        </p:spPr>
      </p:pic>
      <p:sp>
        <p:nvSpPr>
          <p:cNvPr id="6" name="Text 3"/>
          <p:cNvSpPr txBox="1"/>
          <p:nvPr/>
        </p:nvSpPr>
        <p:spPr>
          <a:xfrm>
            <a:off x="640080" y="2103120"/>
            <a:ext cx="2240280" cy="411480"/>
          </a:xfrm>
          <a:prstGeom prst="rect">
            <a:avLst/>
          </a:prstGeom>
          <a:noFill/>
          <a:ln/>
        </p:spPr>
        <p:txBody>
          <a:bodyPr wrap="square" lIns="0" tIns="0" rIns="0" bIns="0" rtlCol="0" anchor="t"/>
          <a:lstStyle/>
          <a:p>
            <a:pPr algn="ctr" indent="0" marL="0">
              <a:buNone/>
            </a:pPr>
            <a:r>
              <a:rPr lang="en-US" sz="2000" b="1" dirty="0">
                <a:solidFill>
                  <a:srgbClr val="1B1B1F"/>
                </a:solidFill>
              </a:rPr>
              <a:t>Scientist</a:t>
            </a:r>
            <a:endParaRPr lang="en-US" sz="2000" dirty="0"/>
          </a:p>
        </p:txBody>
      </p:sp>
      <p:sp>
        <p:nvSpPr>
          <p:cNvPr id="7" name="Text 4"/>
          <p:cNvSpPr txBox="1"/>
          <p:nvPr/>
        </p:nvSpPr>
        <p:spPr>
          <a:xfrm>
            <a:off x="640080" y="2560320"/>
            <a:ext cx="2240280" cy="1097280"/>
          </a:xfrm>
          <a:prstGeom prst="rect">
            <a:avLst/>
          </a:prstGeom>
          <a:noFill/>
          <a:ln/>
        </p:spPr>
        <p:txBody>
          <a:bodyPr wrap="square" lIns="0" tIns="0" rIns="0" bIns="0" rtlCol="0" anchor="t"/>
          <a:lstStyle/>
          <a:p>
            <a:pPr algn="ctr" indent="0" marL="0">
              <a:buNone/>
            </a:pPr>
            <a:r>
              <a:rPr lang="en-US" sz="1400" dirty="0">
                <a:solidFill>
                  <a:srgbClr val="1B1B1F"/>
                </a:solidFill>
              </a:rPr>
              <a:t>Discovers how the world works. Builds knowledge, often without a use in mind yet.</a:t>
            </a:r>
            <a:endParaRPr lang="en-US" sz="1400" dirty="0"/>
          </a:p>
        </p:txBody>
      </p:sp>
      <p:sp>
        <p:nvSpPr>
          <p:cNvPr id="8" name="Shape 5"/>
          <p:cNvSpPr/>
          <p:nvPr/>
        </p:nvSpPr>
        <p:spPr>
          <a:xfrm>
            <a:off x="3246120" y="1234440"/>
            <a:ext cx="2606040" cy="2514600"/>
          </a:xfrm>
          <a:prstGeom prst="roundRect">
            <a:avLst>
              <a:gd name="adj" fmla="val 4364"/>
            </a:avLst>
          </a:prstGeom>
          <a:solidFill>
            <a:srgbClr val="0B2545"/>
          </a:solidFill>
          <a:ln w="12700">
            <a:solidFill>
              <a:srgbClr val="0B2545"/>
            </a:solidFill>
            <a:prstDash val="solid"/>
          </a:ln>
        </p:spPr>
      </p:sp>
      <p:sp>
        <p:nvSpPr>
          <p:cNvPr id="9" name="Shape 6"/>
          <p:cNvSpPr/>
          <p:nvPr/>
        </p:nvSpPr>
        <p:spPr>
          <a:xfrm>
            <a:off x="4251960" y="1417320"/>
            <a:ext cx="594360" cy="594360"/>
          </a:xfrm>
          <a:prstGeom prst="ellipse">
            <a:avLst/>
          </a:prstGeom>
          <a:solidFill>
            <a:srgbClr val="F2A900"/>
          </a:solidFill>
          <a:ln w="12700">
            <a:solidFill>
              <a:srgbClr val="F2A900"/>
            </a:solidFill>
            <a:prstDash val="solid"/>
          </a:ln>
        </p:spPr>
      </p:sp>
      <p:pic>
        <p:nvPicPr>
          <p:cNvPr id="10" name="Image 1" descr="preencoded.png">    </p:cNvPr>
          <p:cNvPicPr>
            <a:picLocks noChangeAspect="1"/>
          </p:cNvPicPr>
          <p:nvPr/>
        </p:nvPicPr>
        <p:blipFill>
          <a:blip r:embed="rId2"/>
          <a:stretch>
            <a:fillRect/>
          </a:stretch>
        </p:blipFill>
        <p:spPr>
          <a:xfrm>
            <a:off x="4382719" y="1548079"/>
            <a:ext cx="332842" cy="332842"/>
          </a:xfrm>
          <a:prstGeom prst="rect">
            <a:avLst/>
          </a:prstGeom>
        </p:spPr>
      </p:pic>
      <p:sp>
        <p:nvSpPr>
          <p:cNvPr id="11" name="Text 7"/>
          <p:cNvSpPr txBox="1"/>
          <p:nvPr/>
        </p:nvSpPr>
        <p:spPr>
          <a:xfrm>
            <a:off x="3429000" y="2103120"/>
            <a:ext cx="2240280" cy="411480"/>
          </a:xfrm>
          <a:prstGeom prst="rect">
            <a:avLst/>
          </a:prstGeom>
          <a:noFill/>
          <a:ln/>
        </p:spPr>
        <p:txBody>
          <a:bodyPr wrap="square" lIns="0" tIns="0" rIns="0" bIns="0" rtlCol="0" anchor="t"/>
          <a:lstStyle/>
          <a:p>
            <a:pPr algn="ctr" indent="0" marL="0">
              <a:buNone/>
            </a:pPr>
            <a:r>
              <a:rPr lang="en-US" sz="2000" b="1" dirty="0">
                <a:solidFill>
                  <a:srgbClr val="FFFFFF"/>
                </a:solidFill>
              </a:rPr>
              <a:t>Engineer</a:t>
            </a:r>
            <a:endParaRPr lang="en-US" sz="2000" dirty="0"/>
          </a:p>
        </p:txBody>
      </p:sp>
      <p:sp>
        <p:nvSpPr>
          <p:cNvPr id="12" name="Text 8"/>
          <p:cNvSpPr txBox="1"/>
          <p:nvPr/>
        </p:nvSpPr>
        <p:spPr>
          <a:xfrm>
            <a:off x="3429000" y="2560320"/>
            <a:ext cx="2240280" cy="1097280"/>
          </a:xfrm>
          <a:prstGeom prst="rect">
            <a:avLst/>
          </a:prstGeom>
          <a:noFill/>
          <a:ln/>
        </p:spPr>
        <p:txBody>
          <a:bodyPr wrap="square" lIns="0" tIns="0" rIns="0" bIns="0" rtlCol="0" anchor="t"/>
          <a:lstStyle/>
          <a:p>
            <a:pPr algn="ctr" indent="0" marL="0">
              <a:buNone/>
            </a:pPr>
            <a:r>
              <a:rPr lang="en-US" sz="1400" dirty="0">
                <a:solidFill>
                  <a:srgbClr val="FFFFFF"/>
                </a:solidFill>
              </a:rPr>
              <a:t>Applies that knowledge to design new solutions to real problems.</a:t>
            </a:r>
            <a:endParaRPr lang="en-US" sz="1400" dirty="0"/>
          </a:p>
        </p:txBody>
      </p:sp>
      <p:sp>
        <p:nvSpPr>
          <p:cNvPr id="13" name="Shape 9"/>
          <p:cNvSpPr/>
          <p:nvPr/>
        </p:nvSpPr>
        <p:spPr>
          <a:xfrm>
            <a:off x="6035040" y="1234440"/>
            <a:ext cx="2606040" cy="2514600"/>
          </a:xfrm>
          <a:prstGeom prst="roundRect">
            <a:avLst>
              <a:gd name="adj" fmla="val 4364"/>
            </a:avLst>
          </a:prstGeom>
          <a:solidFill>
            <a:srgbClr val="EEF3F8"/>
          </a:solidFill>
          <a:ln w="12700">
            <a:solidFill>
              <a:srgbClr val="EEF3F8"/>
            </a:solidFill>
            <a:prstDash val="solid"/>
          </a:ln>
        </p:spPr>
      </p:sp>
      <p:sp>
        <p:nvSpPr>
          <p:cNvPr id="14" name="Shape 10"/>
          <p:cNvSpPr/>
          <p:nvPr/>
        </p:nvSpPr>
        <p:spPr>
          <a:xfrm>
            <a:off x="7040880" y="1417320"/>
            <a:ext cx="594360" cy="594360"/>
          </a:xfrm>
          <a:prstGeom prst="ellipse">
            <a:avLst/>
          </a:prstGeom>
          <a:solidFill>
            <a:srgbClr val="D6E2EE"/>
          </a:solidFill>
          <a:ln w="12700">
            <a:solidFill>
              <a:srgbClr val="D6E2EE"/>
            </a:solidFill>
            <a:prstDash val="solid"/>
          </a:ln>
        </p:spPr>
      </p:sp>
      <p:pic>
        <p:nvPicPr>
          <p:cNvPr id="15" name="Image 2" descr="preencoded.png">    </p:cNvPr>
          <p:cNvPicPr>
            <a:picLocks noChangeAspect="1"/>
          </p:cNvPicPr>
          <p:nvPr/>
        </p:nvPicPr>
        <p:blipFill>
          <a:blip r:embed="rId3"/>
          <a:stretch>
            <a:fillRect/>
          </a:stretch>
        </p:blipFill>
        <p:spPr>
          <a:xfrm>
            <a:off x="7171639" y="1548079"/>
            <a:ext cx="332842" cy="332842"/>
          </a:xfrm>
          <a:prstGeom prst="rect">
            <a:avLst/>
          </a:prstGeom>
        </p:spPr>
      </p:pic>
      <p:sp>
        <p:nvSpPr>
          <p:cNvPr id="16" name="Text 11"/>
          <p:cNvSpPr txBox="1"/>
          <p:nvPr/>
        </p:nvSpPr>
        <p:spPr>
          <a:xfrm>
            <a:off x="6217920" y="2103120"/>
            <a:ext cx="2240280" cy="411480"/>
          </a:xfrm>
          <a:prstGeom prst="rect">
            <a:avLst/>
          </a:prstGeom>
          <a:noFill/>
          <a:ln/>
        </p:spPr>
        <p:txBody>
          <a:bodyPr wrap="square" lIns="0" tIns="0" rIns="0" bIns="0" rtlCol="0" anchor="t"/>
          <a:lstStyle/>
          <a:p>
            <a:pPr algn="ctr" indent="0" marL="0">
              <a:buNone/>
            </a:pPr>
            <a:r>
              <a:rPr lang="en-US" sz="2000" b="1" dirty="0">
                <a:solidFill>
                  <a:srgbClr val="1B1B1F"/>
                </a:solidFill>
              </a:rPr>
              <a:t>Technician</a:t>
            </a:r>
            <a:endParaRPr lang="en-US" sz="2000" dirty="0"/>
          </a:p>
        </p:txBody>
      </p:sp>
      <p:sp>
        <p:nvSpPr>
          <p:cNvPr id="17" name="Text 12"/>
          <p:cNvSpPr txBox="1"/>
          <p:nvPr/>
        </p:nvSpPr>
        <p:spPr>
          <a:xfrm>
            <a:off x="6217920" y="2560320"/>
            <a:ext cx="2240280" cy="1097280"/>
          </a:xfrm>
          <a:prstGeom prst="rect">
            <a:avLst/>
          </a:prstGeom>
          <a:noFill/>
          <a:ln/>
        </p:spPr>
        <p:txBody>
          <a:bodyPr wrap="square" lIns="0" tIns="0" rIns="0" bIns="0" rtlCol="0" anchor="t"/>
          <a:lstStyle/>
          <a:p>
            <a:pPr algn="ctr" indent="0" marL="0">
              <a:buNone/>
            </a:pPr>
            <a:r>
              <a:rPr lang="en-US" sz="1400" dirty="0">
                <a:solidFill>
                  <a:srgbClr val="1B1B1F"/>
                </a:solidFill>
              </a:rPr>
              <a:t>Builds, maintains and repairs specific systems with deep hands-on skill.</a:t>
            </a:r>
            <a:endParaRPr lang="en-US" sz="1400" dirty="0"/>
          </a:p>
        </p:txBody>
      </p:sp>
      <p:sp>
        <p:nvSpPr>
          <p:cNvPr id="18" name="Text 13"/>
          <p:cNvSpPr txBox="1"/>
          <p:nvPr/>
        </p:nvSpPr>
        <p:spPr>
          <a:xfrm>
            <a:off x="457200" y="3977640"/>
            <a:ext cx="8229600" cy="548640"/>
          </a:xfrm>
          <a:prstGeom prst="rect">
            <a:avLst/>
          </a:prstGeom>
          <a:noFill/>
          <a:ln/>
        </p:spPr>
        <p:txBody>
          <a:bodyPr wrap="square" lIns="0" tIns="0" rIns="0" bIns="0" rtlCol="0" anchor="t"/>
          <a:lstStyle/>
          <a:p>
            <a:pPr indent="0" marL="0">
              <a:buNone/>
            </a:pPr>
            <a:r>
              <a:rPr lang="en-US" sz="1500" i="1" dirty="0">
                <a:solidFill>
                  <a:srgbClr val="1C6EA4"/>
                </a:solidFill>
              </a:rPr>
              <a:t>Example: an electrician wires your house; an electrical engineer designs the system and the appliances in it.</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What is Mechatronics?</a:t>
            </a:r>
            <a:endParaRPr lang="en-US" sz="3200" dirty="0"/>
          </a:p>
        </p:txBody>
      </p:sp>
      <p:sp>
        <p:nvSpPr>
          <p:cNvPr id="3" name="Shape 1"/>
          <p:cNvSpPr/>
          <p:nvPr/>
        </p:nvSpPr>
        <p:spPr>
          <a:xfrm>
            <a:off x="822960" y="1234440"/>
            <a:ext cx="2194560" cy="1755648"/>
          </a:xfrm>
          <a:prstGeom prst="ellipse">
            <a:avLst/>
          </a:prstGeom>
          <a:solidFill>
            <a:srgbClr val="2E9E4F">
              <a:alpha val="65000"/>
            </a:srgbClr>
          </a:solidFill>
          <a:ln w="12700">
            <a:solidFill>
              <a:srgbClr val="2E9E4F"/>
            </a:solidFill>
            <a:prstDash val="solid"/>
          </a:ln>
        </p:spPr>
      </p:sp>
      <p:sp>
        <p:nvSpPr>
          <p:cNvPr id="4" name="Shape 2"/>
          <p:cNvSpPr/>
          <p:nvPr/>
        </p:nvSpPr>
        <p:spPr>
          <a:xfrm>
            <a:off x="2514600" y="1234440"/>
            <a:ext cx="2194560" cy="1755648"/>
          </a:xfrm>
          <a:prstGeom prst="ellipse">
            <a:avLst/>
          </a:prstGeom>
          <a:solidFill>
            <a:srgbClr val="F2A900">
              <a:alpha val="65000"/>
            </a:srgbClr>
          </a:solidFill>
          <a:ln w="12700">
            <a:solidFill>
              <a:srgbClr val="F2A900"/>
            </a:solidFill>
            <a:prstDash val="solid"/>
          </a:ln>
        </p:spPr>
      </p:sp>
      <p:sp>
        <p:nvSpPr>
          <p:cNvPr id="5" name="Shape 3"/>
          <p:cNvSpPr/>
          <p:nvPr/>
        </p:nvSpPr>
        <p:spPr>
          <a:xfrm>
            <a:off x="1673352" y="2606040"/>
            <a:ext cx="2194560" cy="1755648"/>
          </a:xfrm>
          <a:prstGeom prst="ellipse">
            <a:avLst/>
          </a:prstGeom>
          <a:solidFill>
            <a:srgbClr val="1C6EA4">
              <a:alpha val="65000"/>
            </a:srgbClr>
          </a:solidFill>
          <a:ln w="12700">
            <a:solidFill>
              <a:srgbClr val="1C6EA4"/>
            </a:solidFill>
            <a:prstDash val="solid"/>
          </a:ln>
        </p:spPr>
      </p:sp>
      <p:sp>
        <p:nvSpPr>
          <p:cNvPr id="6" name="Text 4"/>
          <p:cNvSpPr txBox="1"/>
          <p:nvPr/>
        </p:nvSpPr>
        <p:spPr>
          <a:xfrm>
            <a:off x="868680" y="1600200"/>
            <a:ext cx="1463040" cy="365760"/>
          </a:xfrm>
          <a:prstGeom prst="rect">
            <a:avLst/>
          </a:prstGeom>
          <a:noFill/>
          <a:ln/>
        </p:spPr>
        <p:txBody>
          <a:bodyPr wrap="square" lIns="0" tIns="0" rIns="0" bIns="0" rtlCol="0" anchor="t"/>
          <a:lstStyle/>
          <a:p>
            <a:pPr algn="ctr" indent="0" marL="0">
              <a:buNone/>
            </a:pPr>
            <a:r>
              <a:rPr lang="en-US" sz="1400" b="1" dirty="0">
                <a:solidFill>
                  <a:srgbClr val="1B1B1F"/>
                </a:solidFill>
              </a:rPr>
              <a:t>Mechanical</a:t>
            </a:r>
            <a:endParaRPr lang="en-US" sz="1400" dirty="0"/>
          </a:p>
        </p:txBody>
      </p:sp>
      <p:sp>
        <p:nvSpPr>
          <p:cNvPr id="7" name="Text 5"/>
          <p:cNvSpPr txBox="1"/>
          <p:nvPr/>
        </p:nvSpPr>
        <p:spPr>
          <a:xfrm>
            <a:off x="3246120" y="1600200"/>
            <a:ext cx="1371600" cy="365760"/>
          </a:xfrm>
          <a:prstGeom prst="rect">
            <a:avLst/>
          </a:prstGeom>
          <a:noFill/>
          <a:ln/>
        </p:spPr>
        <p:txBody>
          <a:bodyPr wrap="square" lIns="0" tIns="0" rIns="0" bIns="0" rtlCol="0" anchor="t"/>
          <a:lstStyle/>
          <a:p>
            <a:pPr algn="ctr" indent="0" marL="0">
              <a:buNone/>
            </a:pPr>
            <a:r>
              <a:rPr lang="en-US" sz="1400" b="1" dirty="0">
                <a:solidFill>
                  <a:srgbClr val="1B1B1F"/>
                </a:solidFill>
              </a:rPr>
              <a:t>Electrical</a:t>
            </a:r>
            <a:endParaRPr lang="en-US" sz="1400" dirty="0"/>
          </a:p>
        </p:txBody>
      </p:sp>
      <p:sp>
        <p:nvSpPr>
          <p:cNvPr id="8" name="Text 6"/>
          <p:cNvSpPr txBox="1"/>
          <p:nvPr/>
        </p:nvSpPr>
        <p:spPr>
          <a:xfrm>
            <a:off x="2103120" y="3794760"/>
            <a:ext cx="1371600" cy="365760"/>
          </a:xfrm>
          <a:prstGeom prst="rect">
            <a:avLst/>
          </a:prstGeom>
          <a:noFill/>
          <a:ln/>
        </p:spPr>
        <p:txBody>
          <a:bodyPr wrap="square" lIns="0" tIns="0" rIns="0" bIns="0" rtlCol="0" anchor="t"/>
          <a:lstStyle/>
          <a:p>
            <a:pPr algn="ctr" indent="0" marL="0">
              <a:buNone/>
            </a:pPr>
            <a:r>
              <a:rPr lang="en-US" sz="1400" b="1" dirty="0">
                <a:solidFill>
                  <a:srgbClr val="1B1B1F"/>
                </a:solidFill>
              </a:rPr>
              <a:t>Computer</a:t>
            </a:r>
            <a:endParaRPr lang="en-US" sz="1400" dirty="0"/>
          </a:p>
        </p:txBody>
      </p:sp>
      <p:sp>
        <p:nvSpPr>
          <p:cNvPr id="9" name="Shape 7"/>
          <p:cNvSpPr/>
          <p:nvPr/>
        </p:nvSpPr>
        <p:spPr>
          <a:xfrm>
            <a:off x="2194560" y="2331720"/>
            <a:ext cx="1371600" cy="384048"/>
          </a:xfrm>
          <a:prstGeom prst="roundRect">
            <a:avLst>
              <a:gd name="adj" fmla="val 23810"/>
            </a:avLst>
          </a:prstGeom>
          <a:solidFill>
            <a:srgbClr val="0B2545"/>
          </a:solidFill>
          <a:ln w="12700">
            <a:solidFill>
              <a:srgbClr val="0B2545"/>
            </a:solidFill>
            <a:prstDash val="solid"/>
          </a:ln>
        </p:spPr>
      </p:sp>
      <p:sp>
        <p:nvSpPr>
          <p:cNvPr id="10" name="Text 8"/>
          <p:cNvSpPr txBox="1"/>
          <p:nvPr/>
        </p:nvSpPr>
        <p:spPr>
          <a:xfrm>
            <a:off x="2194560" y="2331720"/>
            <a:ext cx="1371600" cy="384048"/>
          </a:xfrm>
          <a:prstGeom prst="rect">
            <a:avLst/>
          </a:prstGeom>
          <a:noFill/>
          <a:ln/>
        </p:spPr>
        <p:txBody>
          <a:bodyPr wrap="square" lIns="0" tIns="0" rIns="0" bIns="0" rtlCol="0" anchor="ctr"/>
          <a:lstStyle/>
          <a:p>
            <a:pPr algn="ctr" indent="0" marL="0">
              <a:buNone/>
            </a:pPr>
            <a:r>
              <a:rPr lang="en-US" sz="1400" b="1" dirty="0">
                <a:solidFill>
                  <a:srgbClr val="FFFFFF"/>
                </a:solidFill>
              </a:rPr>
              <a:t>Mechatronics</a:t>
            </a:r>
            <a:endParaRPr lang="en-US" sz="1400" dirty="0"/>
          </a:p>
        </p:txBody>
      </p:sp>
      <p:sp>
        <p:nvSpPr>
          <p:cNvPr id="11" name="Text 9"/>
          <p:cNvSpPr txBox="1"/>
          <p:nvPr/>
        </p:nvSpPr>
        <p:spPr>
          <a:xfrm>
            <a:off x="5120640" y="1371600"/>
            <a:ext cx="3566160" cy="1005840"/>
          </a:xfrm>
          <a:prstGeom prst="rect">
            <a:avLst/>
          </a:prstGeom>
          <a:noFill/>
          <a:ln/>
        </p:spPr>
        <p:txBody>
          <a:bodyPr wrap="square" lIns="0" tIns="0" rIns="0" bIns="0" rtlCol="0" anchor="t"/>
          <a:lstStyle/>
          <a:p>
            <a:pPr indent="0" marL="0">
              <a:buNone/>
            </a:pPr>
            <a:r>
              <a:rPr lang="en-US" sz="1600" dirty="0">
                <a:solidFill>
                  <a:srgbClr val="1B1B1F"/>
                </a:solidFill>
              </a:rPr>
              <a:t>Engineers are problem solvers. "Mechanical" or "electrical" just names the kind of problem they are trained for.</a:t>
            </a:r>
            <a:endParaRPr lang="en-US" sz="1600" dirty="0"/>
          </a:p>
        </p:txBody>
      </p:sp>
      <p:sp>
        <p:nvSpPr>
          <p:cNvPr id="12" name="Text 10"/>
          <p:cNvSpPr txBox="1"/>
          <p:nvPr/>
        </p:nvSpPr>
        <p:spPr>
          <a:xfrm>
            <a:off x="5120640" y="2514600"/>
            <a:ext cx="3566160" cy="1188720"/>
          </a:xfrm>
          <a:prstGeom prst="rect">
            <a:avLst/>
          </a:prstGeom>
          <a:noFill/>
          <a:ln/>
        </p:spPr>
        <p:txBody>
          <a:bodyPr wrap="square" lIns="0" tIns="0" rIns="0" bIns="0" rtlCol="0" anchor="t"/>
          <a:lstStyle/>
          <a:p>
            <a:pPr indent="0" marL="0">
              <a:buNone/>
            </a:pPr>
            <a:r>
              <a:rPr lang="en-US" sz="1600" dirty="0">
                <a:solidFill>
                  <a:srgbClr val="1B1B1F"/>
                </a:solidFill>
              </a:rPr>
              <a:t>Mechatronics engineers solve problems that join mechanical, electrical and computer engineering together, like robots, drones and cars.</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Meet the solar car</a:t>
            </a:r>
            <a:endParaRPr lang="en-US" sz="3200" dirty="0"/>
          </a:p>
        </p:txBody>
      </p:sp>
      <p:pic>
        <p:nvPicPr>
          <p:cNvPr id="3" name="Image 0" descr="preencoded.png">    </p:cNvPr>
          <p:cNvPicPr>
            <a:picLocks noChangeAspect="1"/>
          </p:cNvPicPr>
          <p:nvPr/>
        </p:nvPicPr>
        <p:blipFill>
          <a:blip r:embed="rId1"/>
          <a:srcRect l="0" r="0" t="0" b="0"/>
          <a:stretch/>
        </p:blipFill>
        <p:spPr>
          <a:xfrm>
            <a:off x="457200" y="1143000"/>
            <a:ext cx="3657600" cy="3456432"/>
          </a:xfrm>
          <a:prstGeom prst="rect">
            <a:avLst/>
          </a:prstGeom>
        </p:spPr>
      </p:pic>
      <p:pic>
        <p:nvPicPr>
          <p:cNvPr id="4" name="Image 1" descr="preencoded.png">    </p:cNvPr>
          <p:cNvPicPr>
            <a:picLocks noChangeAspect="1"/>
          </p:cNvPicPr>
          <p:nvPr/>
        </p:nvPicPr>
        <p:blipFill>
          <a:blip r:embed="rId2"/>
          <a:stretch>
            <a:fillRect/>
          </a:stretch>
        </p:blipFill>
        <p:spPr>
          <a:xfrm>
            <a:off x="4389120" y="1143000"/>
            <a:ext cx="2377440" cy="2377440"/>
          </a:xfrm>
          <a:prstGeom prst="rect">
            <a:avLst/>
          </a:prstGeom>
        </p:spPr>
      </p:pic>
      <p:sp>
        <p:nvSpPr>
          <p:cNvPr id="5" name="Text 1"/>
          <p:cNvSpPr txBox="1"/>
          <p:nvPr/>
        </p:nvSpPr>
        <p:spPr>
          <a:xfrm>
            <a:off x="4389120" y="3611880"/>
            <a:ext cx="2377440" cy="548640"/>
          </a:xfrm>
          <a:prstGeom prst="rect">
            <a:avLst/>
          </a:prstGeom>
          <a:noFill/>
          <a:ln/>
        </p:spPr>
        <p:txBody>
          <a:bodyPr wrap="square" lIns="0" tIns="0" rIns="0" bIns="0" rtlCol="0" anchor="t"/>
          <a:lstStyle/>
          <a:p>
            <a:pPr indent="0" marL="0">
              <a:buNone/>
            </a:pPr>
            <a:r>
              <a:rPr lang="en-US" sz="1200" i="1" dirty="0">
                <a:solidFill>
                  <a:srgbClr val="5A6472"/>
                </a:solidFill>
              </a:rPr>
              <a:t>Designed on a computer (left), built for real (right)</a:t>
            </a:r>
            <a:endParaRPr lang="en-US" sz="1200" dirty="0"/>
          </a:p>
        </p:txBody>
      </p:sp>
      <p:sp>
        <p:nvSpPr>
          <p:cNvPr id="6" name="Shape 2"/>
          <p:cNvSpPr/>
          <p:nvPr/>
        </p:nvSpPr>
        <p:spPr>
          <a:xfrm>
            <a:off x="7040880" y="1188720"/>
            <a:ext cx="1645920" cy="411480"/>
          </a:xfrm>
          <a:prstGeom prst="roundRect">
            <a:avLst>
              <a:gd name="adj" fmla="val 22222"/>
            </a:avLst>
          </a:prstGeom>
          <a:solidFill>
            <a:srgbClr val="2E9E4F"/>
          </a:solidFill>
          <a:ln w="12700">
            <a:solidFill>
              <a:srgbClr val="2E9E4F"/>
            </a:solidFill>
            <a:prstDash val="solid"/>
          </a:ln>
        </p:spPr>
      </p:sp>
      <p:sp>
        <p:nvSpPr>
          <p:cNvPr id="7" name="Text 3"/>
          <p:cNvSpPr txBox="1"/>
          <p:nvPr/>
        </p:nvSpPr>
        <p:spPr>
          <a:xfrm>
            <a:off x="7040880" y="1188720"/>
            <a:ext cx="1645920" cy="411480"/>
          </a:xfrm>
          <a:prstGeom prst="rect">
            <a:avLst/>
          </a:prstGeom>
          <a:noFill/>
          <a:ln/>
        </p:spPr>
        <p:txBody>
          <a:bodyPr wrap="square" lIns="0" tIns="0" rIns="0" bIns="0" rtlCol="0" anchor="ctr"/>
          <a:lstStyle/>
          <a:p>
            <a:pPr algn="ctr" indent="0" marL="0">
              <a:buNone/>
            </a:pPr>
            <a:r>
              <a:rPr lang="en-US" sz="1400" b="1" dirty="0">
                <a:solidFill>
                  <a:srgbClr val="FFFFFF"/>
                </a:solidFill>
              </a:rPr>
              <a:t>Mechanical</a:t>
            </a:r>
            <a:endParaRPr lang="en-US" sz="1400" dirty="0"/>
          </a:p>
        </p:txBody>
      </p:sp>
      <p:sp>
        <p:nvSpPr>
          <p:cNvPr id="8" name="Shape 4"/>
          <p:cNvSpPr/>
          <p:nvPr/>
        </p:nvSpPr>
        <p:spPr>
          <a:xfrm>
            <a:off x="7040880" y="1737360"/>
            <a:ext cx="1645920" cy="411480"/>
          </a:xfrm>
          <a:prstGeom prst="roundRect">
            <a:avLst>
              <a:gd name="adj" fmla="val 22222"/>
            </a:avLst>
          </a:prstGeom>
          <a:solidFill>
            <a:srgbClr val="F2A900"/>
          </a:solidFill>
          <a:ln w="12700">
            <a:solidFill>
              <a:srgbClr val="F2A900"/>
            </a:solidFill>
            <a:prstDash val="solid"/>
          </a:ln>
        </p:spPr>
      </p:sp>
      <p:sp>
        <p:nvSpPr>
          <p:cNvPr id="9" name="Text 5"/>
          <p:cNvSpPr txBox="1"/>
          <p:nvPr/>
        </p:nvSpPr>
        <p:spPr>
          <a:xfrm>
            <a:off x="7040880" y="1737360"/>
            <a:ext cx="1645920" cy="411480"/>
          </a:xfrm>
          <a:prstGeom prst="rect">
            <a:avLst/>
          </a:prstGeom>
          <a:noFill/>
          <a:ln/>
        </p:spPr>
        <p:txBody>
          <a:bodyPr wrap="square" lIns="0" tIns="0" rIns="0" bIns="0" rtlCol="0" anchor="ctr"/>
          <a:lstStyle/>
          <a:p>
            <a:pPr algn="ctr" indent="0" marL="0">
              <a:buNone/>
            </a:pPr>
            <a:r>
              <a:rPr lang="en-US" sz="1400" b="1" dirty="0">
                <a:solidFill>
                  <a:srgbClr val="FFFFFF"/>
                </a:solidFill>
              </a:rPr>
              <a:t>Electrical</a:t>
            </a:r>
            <a:endParaRPr lang="en-US" sz="1400" dirty="0"/>
          </a:p>
        </p:txBody>
      </p:sp>
      <p:sp>
        <p:nvSpPr>
          <p:cNvPr id="10" name="Shape 6"/>
          <p:cNvSpPr/>
          <p:nvPr/>
        </p:nvSpPr>
        <p:spPr>
          <a:xfrm>
            <a:off x="7040880" y="2286000"/>
            <a:ext cx="1645920" cy="411480"/>
          </a:xfrm>
          <a:prstGeom prst="roundRect">
            <a:avLst>
              <a:gd name="adj" fmla="val 22222"/>
            </a:avLst>
          </a:prstGeom>
          <a:solidFill>
            <a:srgbClr val="1C6EA4"/>
          </a:solidFill>
          <a:ln w="12700">
            <a:solidFill>
              <a:srgbClr val="1C6EA4"/>
            </a:solidFill>
            <a:prstDash val="solid"/>
          </a:ln>
        </p:spPr>
      </p:sp>
      <p:sp>
        <p:nvSpPr>
          <p:cNvPr id="11" name="Text 7"/>
          <p:cNvSpPr txBox="1"/>
          <p:nvPr/>
        </p:nvSpPr>
        <p:spPr>
          <a:xfrm>
            <a:off x="7040880" y="2286000"/>
            <a:ext cx="1645920" cy="411480"/>
          </a:xfrm>
          <a:prstGeom prst="rect">
            <a:avLst/>
          </a:prstGeom>
          <a:noFill/>
          <a:ln/>
        </p:spPr>
        <p:txBody>
          <a:bodyPr wrap="square" lIns="0" tIns="0" rIns="0" bIns="0" rtlCol="0" anchor="ctr"/>
          <a:lstStyle/>
          <a:p>
            <a:pPr algn="ctr" indent="0" marL="0">
              <a:buNone/>
            </a:pPr>
            <a:r>
              <a:rPr lang="en-US" sz="1400" b="1" dirty="0">
                <a:solidFill>
                  <a:srgbClr val="FFFFFF"/>
                </a:solidFill>
              </a:rPr>
              <a:t>Computer</a:t>
            </a:r>
            <a:endParaRPr lang="en-US" sz="1400" dirty="0"/>
          </a:p>
        </p:txBody>
      </p:sp>
      <p:sp>
        <p:nvSpPr>
          <p:cNvPr id="12" name="Shape 8"/>
          <p:cNvSpPr/>
          <p:nvPr/>
        </p:nvSpPr>
        <p:spPr>
          <a:xfrm>
            <a:off x="7040880" y="2834640"/>
            <a:ext cx="1645920" cy="411480"/>
          </a:xfrm>
          <a:prstGeom prst="roundRect">
            <a:avLst>
              <a:gd name="adj" fmla="val 22222"/>
            </a:avLst>
          </a:prstGeom>
          <a:solidFill>
            <a:srgbClr val="D97B00"/>
          </a:solidFill>
          <a:ln w="12700">
            <a:solidFill>
              <a:srgbClr val="D97B00"/>
            </a:solidFill>
            <a:prstDash val="solid"/>
          </a:ln>
        </p:spPr>
      </p:sp>
      <p:sp>
        <p:nvSpPr>
          <p:cNvPr id="13" name="Text 9"/>
          <p:cNvSpPr txBox="1"/>
          <p:nvPr/>
        </p:nvSpPr>
        <p:spPr>
          <a:xfrm>
            <a:off x="7040880" y="2834640"/>
            <a:ext cx="1645920" cy="411480"/>
          </a:xfrm>
          <a:prstGeom prst="rect">
            <a:avLst/>
          </a:prstGeom>
          <a:noFill/>
          <a:ln/>
        </p:spPr>
        <p:txBody>
          <a:bodyPr wrap="square" lIns="0" tIns="0" rIns="0" bIns="0" rtlCol="0" anchor="ctr"/>
          <a:lstStyle/>
          <a:p>
            <a:pPr algn="ctr" indent="0" marL="0">
              <a:buNone/>
            </a:pPr>
            <a:r>
              <a:rPr lang="en-US" sz="1400" b="1" dirty="0">
                <a:solidFill>
                  <a:srgbClr val="FFFFFF"/>
                </a:solidFill>
              </a:rPr>
              <a:t>Solar energy</a:t>
            </a:r>
            <a:endParaRPr lang="en-US" sz="1400" dirty="0"/>
          </a:p>
        </p:txBody>
      </p:sp>
      <p:sp>
        <p:nvSpPr>
          <p:cNvPr id="14" name="Text 10"/>
          <p:cNvSpPr txBox="1"/>
          <p:nvPr/>
        </p:nvSpPr>
        <p:spPr>
          <a:xfrm>
            <a:off x="7040880" y="3474720"/>
            <a:ext cx="1645920" cy="1097280"/>
          </a:xfrm>
          <a:prstGeom prst="rect">
            <a:avLst/>
          </a:prstGeom>
          <a:noFill/>
          <a:ln/>
        </p:spPr>
        <p:txBody>
          <a:bodyPr wrap="square" lIns="0" tIns="0" rIns="0" bIns="0" rtlCol="0" anchor="t"/>
          <a:lstStyle/>
          <a:p>
            <a:pPr indent="0" marL="0">
              <a:buNone/>
            </a:pPr>
            <a:r>
              <a:rPr lang="en-US" sz="1400" b="1" dirty="0">
                <a:solidFill>
                  <a:srgbClr val="0B2545"/>
                </a:solidFill>
              </a:rPr>
              <a:t>One project, every discipline, built for you to drive.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Electrical: managing power</a:t>
            </a:r>
            <a:endParaRPr lang="en-US" sz="3200" dirty="0"/>
          </a:p>
        </p:txBody>
      </p:sp>
      <p:pic>
        <p:nvPicPr>
          <p:cNvPr id="3" name="Image 0" descr="preencoded.png">    </p:cNvPr>
          <p:cNvPicPr>
            <a:picLocks noChangeAspect="1"/>
          </p:cNvPicPr>
          <p:nvPr/>
        </p:nvPicPr>
        <p:blipFill>
          <a:blip r:embed="rId1"/>
          <a:stretch>
            <a:fillRect/>
          </a:stretch>
        </p:blipFill>
        <p:spPr>
          <a:xfrm>
            <a:off x="457200" y="1188720"/>
            <a:ext cx="4206240" cy="2404872"/>
          </a:xfrm>
          <a:prstGeom prst="rect">
            <a:avLst/>
          </a:prstGeom>
        </p:spPr>
      </p:pic>
      <p:sp>
        <p:nvSpPr>
          <p:cNvPr id="4" name="Text 1"/>
          <p:cNvSpPr txBox="1"/>
          <p:nvPr/>
        </p:nvSpPr>
        <p:spPr>
          <a:xfrm>
            <a:off x="457200" y="3657600"/>
            <a:ext cx="4206240" cy="320040"/>
          </a:xfrm>
          <a:prstGeom prst="rect">
            <a:avLst/>
          </a:prstGeom>
          <a:noFill/>
          <a:ln/>
        </p:spPr>
        <p:txBody>
          <a:bodyPr wrap="square" lIns="0" tIns="0" rIns="0" bIns="0" rtlCol="0" anchor="t"/>
          <a:lstStyle/>
          <a:p>
            <a:pPr indent="0" marL="0">
              <a:buNone/>
            </a:pPr>
            <a:r>
              <a:rPr lang="en-US" sz="1200" i="1" dirty="0">
                <a:solidFill>
                  <a:srgbClr val="5A6472"/>
                </a:solidFill>
              </a:rPr>
              <a:t>The car's power circuit</a:t>
            </a:r>
            <a:endParaRPr lang="en-US" sz="1200" dirty="0"/>
          </a:p>
        </p:txBody>
      </p:sp>
      <p:sp>
        <p:nvSpPr>
          <p:cNvPr id="5" name="Shape 2"/>
          <p:cNvSpPr/>
          <p:nvPr/>
        </p:nvSpPr>
        <p:spPr>
          <a:xfrm>
            <a:off x="4937760" y="1188720"/>
            <a:ext cx="3749040" cy="1463040"/>
          </a:xfrm>
          <a:prstGeom prst="roundRect">
            <a:avLst>
              <a:gd name="adj" fmla="val 7500"/>
            </a:avLst>
          </a:prstGeom>
          <a:solidFill>
            <a:srgbClr val="EEF3F8"/>
          </a:solidFill>
          <a:ln w="12700">
            <a:solidFill>
              <a:srgbClr val="EEF3F8"/>
            </a:solidFill>
            <a:prstDash val="solid"/>
          </a:ln>
        </p:spPr>
      </p:sp>
      <p:sp>
        <p:nvSpPr>
          <p:cNvPr id="6" name="Text 3"/>
          <p:cNvSpPr txBox="1"/>
          <p:nvPr/>
        </p:nvSpPr>
        <p:spPr>
          <a:xfrm>
            <a:off x="5120640" y="1280160"/>
            <a:ext cx="3383280" cy="365760"/>
          </a:xfrm>
          <a:prstGeom prst="rect">
            <a:avLst/>
          </a:prstGeom>
          <a:noFill/>
          <a:ln/>
        </p:spPr>
        <p:txBody>
          <a:bodyPr wrap="square" lIns="0" tIns="0" rIns="0" bIns="0" rtlCol="0" anchor="t"/>
          <a:lstStyle/>
          <a:p>
            <a:pPr indent="0" marL="0">
              <a:buNone/>
            </a:pPr>
            <a:r>
              <a:rPr lang="en-US" sz="1600" b="1" dirty="0">
                <a:solidFill>
                  <a:srgbClr val="0B2545"/>
                </a:solidFill>
              </a:rPr>
              <a:t>Three circuits on the car</a:t>
            </a:r>
            <a:endParaRPr lang="en-US" sz="1600" dirty="0"/>
          </a:p>
        </p:txBody>
      </p:sp>
      <p:sp>
        <p:nvSpPr>
          <p:cNvPr id="7" name="Text 4"/>
          <p:cNvSpPr txBox="1"/>
          <p:nvPr/>
        </p:nvSpPr>
        <p:spPr>
          <a:xfrm>
            <a:off x="5120640" y="1691640"/>
            <a:ext cx="3474720" cy="9144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rgbClr val="1B1B1F"/>
                </a:solidFill>
              </a:rPr>
              <a:t>Power: solar, battery and charging</a:t>
            </a:r>
            <a:endParaRPr lang="en-US" sz="1400" dirty="0"/>
          </a:p>
          <a:p>
            <a:pPr marL="342900" indent="-342900">
              <a:spcAft>
                <a:spcPts val="200"/>
              </a:spcAft>
              <a:buSzPct val="100000"/>
              <a:buChar char="•"/>
            </a:pPr>
            <a:r>
              <a:rPr lang="en-US" sz="1400" dirty="0">
                <a:solidFill>
                  <a:srgbClr val="1B1B1F"/>
                </a:solidFill>
              </a:rPr>
              <a:t>Drive: motors, steering and sensors</a:t>
            </a:r>
            <a:endParaRPr lang="en-US" sz="1400" dirty="0"/>
          </a:p>
          <a:p>
            <a:pPr marL="342900" indent="-342900">
              <a:spcAft>
                <a:spcPts val="200"/>
              </a:spcAft>
              <a:buSzPct val="100000"/>
              <a:buChar char="•"/>
            </a:pPr>
            <a:r>
              <a:rPr lang="en-US" sz="1400" dirty="0">
                <a:solidFill>
                  <a:srgbClr val="1B1B1F"/>
                </a:solidFill>
              </a:rPr>
              <a:t>Tracker: turns the panel to the light</a:t>
            </a:r>
            <a:endParaRPr lang="en-US" sz="1400" dirty="0"/>
          </a:p>
        </p:txBody>
      </p:sp>
      <p:sp>
        <p:nvSpPr>
          <p:cNvPr id="8" name="Shape 5"/>
          <p:cNvSpPr/>
          <p:nvPr/>
        </p:nvSpPr>
        <p:spPr>
          <a:xfrm>
            <a:off x="4937760" y="2834640"/>
            <a:ext cx="3749040" cy="1691640"/>
          </a:xfrm>
          <a:prstGeom prst="roundRect">
            <a:avLst>
              <a:gd name="adj" fmla="val 6486"/>
            </a:avLst>
          </a:prstGeom>
          <a:solidFill>
            <a:srgbClr val="EEF3F8"/>
          </a:solidFill>
          <a:ln w="12700">
            <a:solidFill>
              <a:srgbClr val="EEF3F8"/>
            </a:solidFill>
            <a:prstDash val="solid"/>
          </a:ln>
        </p:spPr>
      </p:sp>
      <p:sp>
        <p:nvSpPr>
          <p:cNvPr id="9" name="Text 6"/>
          <p:cNvSpPr txBox="1"/>
          <p:nvPr/>
        </p:nvSpPr>
        <p:spPr>
          <a:xfrm>
            <a:off x="5120640" y="2926080"/>
            <a:ext cx="3383280" cy="365760"/>
          </a:xfrm>
          <a:prstGeom prst="rect">
            <a:avLst/>
          </a:prstGeom>
          <a:noFill/>
          <a:ln/>
        </p:spPr>
        <p:txBody>
          <a:bodyPr wrap="square" lIns="0" tIns="0" rIns="0" bIns="0" rtlCol="0" anchor="t"/>
          <a:lstStyle/>
          <a:p>
            <a:pPr indent="0" marL="0">
              <a:buNone/>
            </a:pPr>
            <a:r>
              <a:rPr lang="en-US" sz="1600" b="1" dirty="0">
                <a:solidFill>
                  <a:srgbClr val="0B2545"/>
                </a:solidFill>
              </a:rPr>
              <a:t>The same ideas in your home</a:t>
            </a:r>
            <a:endParaRPr lang="en-US" sz="1600" dirty="0"/>
          </a:p>
        </p:txBody>
      </p:sp>
      <p:pic>
        <p:nvPicPr>
          <p:cNvPr id="10" name="Image 1" descr="preencoded.png">    </p:cNvPr>
          <p:cNvPicPr>
            <a:picLocks noChangeAspect="1"/>
          </p:cNvPicPr>
          <p:nvPr/>
        </p:nvPicPr>
        <p:blipFill>
          <a:blip r:embed="rId2"/>
          <a:stretch>
            <a:fillRect/>
          </a:stretch>
        </p:blipFill>
        <p:spPr>
          <a:xfrm>
            <a:off x="5120640" y="3364992"/>
            <a:ext cx="256032" cy="256032"/>
          </a:xfrm>
          <a:prstGeom prst="rect">
            <a:avLst/>
          </a:prstGeom>
        </p:spPr>
      </p:pic>
      <p:sp>
        <p:nvSpPr>
          <p:cNvPr id="11" name="Text 7"/>
          <p:cNvSpPr txBox="1"/>
          <p:nvPr/>
        </p:nvSpPr>
        <p:spPr>
          <a:xfrm>
            <a:off x="5486400" y="3337560"/>
            <a:ext cx="3108960" cy="329184"/>
          </a:xfrm>
          <a:prstGeom prst="rect">
            <a:avLst/>
          </a:prstGeom>
          <a:noFill/>
          <a:ln/>
        </p:spPr>
        <p:txBody>
          <a:bodyPr wrap="square" lIns="0" tIns="0" rIns="0" bIns="0" rtlCol="0" anchor="ctr"/>
          <a:lstStyle/>
          <a:p>
            <a:pPr indent="0" marL="0">
              <a:buNone/>
            </a:pPr>
            <a:r>
              <a:rPr lang="en-US" sz="1300" dirty="0">
                <a:solidFill>
                  <a:srgbClr val="1B1B1F"/>
                </a:solidFill>
              </a:rPr>
              <a:t>Phone charger: controls the power into a battery</a:t>
            </a:r>
            <a:endParaRPr lang="en-US" sz="1300" dirty="0"/>
          </a:p>
        </p:txBody>
      </p:sp>
      <p:pic>
        <p:nvPicPr>
          <p:cNvPr id="12" name="Image 2" descr="preencoded.png">    </p:cNvPr>
          <p:cNvPicPr>
            <a:picLocks noChangeAspect="1"/>
          </p:cNvPicPr>
          <p:nvPr/>
        </p:nvPicPr>
        <p:blipFill>
          <a:blip r:embed="rId3"/>
          <a:stretch>
            <a:fillRect/>
          </a:stretch>
        </p:blipFill>
        <p:spPr>
          <a:xfrm>
            <a:off x="5120640" y="3730752"/>
            <a:ext cx="256032" cy="256032"/>
          </a:xfrm>
          <a:prstGeom prst="rect">
            <a:avLst/>
          </a:prstGeom>
        </p:spPr>
      </p:pic>
      <p:sp>
        <p:nvSpPr>
          <p:cNvPr id="13" name="Text 8"/>
          <p:cNvSpPr txBox="1"/>
          <p:nvPr/>
        </p:nvSpPr>
        <p:spPr>
          <a:xfrm>
            <a:off x="5486400" y="3703320"/>
            <a:ext cx="3108960" cy="329184"/>
          </a:xfrm>
          <a:prstGeom prst="rect">
            <a:avLst/>
          </a:prstGeom>
          <a:noFill/>
          <a:ln/>
        </p:spPr>
        <p:txBody>
          <a:bodyPr wrap="square" lIns="0" tIns="0" rIns="0" bIns="0" rtlCol="0" anchor="ctr"/>
          <a:lstStyle/>
          <a:p>
            <a:pPr indent="0" marL="0">
              <a:buNone/>
            </a:pPr>
            <a:r>
              <a:rPr lang="en-US" sz="1300" dirty="0">
                <a:solidFill>
                  <a:srgbClr val="1B1B1F"/>
                </a:solidFill>
              </a:rPr>
              <a:t>Solar garden light: stores the day's sun</a:t>
            </a:r>
            <a:endParaRPr lang="en-US" sz="1300" dirty="0"/>
          </a:p>
        </p:txBody>
      </p:sp>
      <p:pic>
        <p:nvPicPr>
          <p:cNvPr id="14" name="Image 3" descr="preencoded.png">    </p:cNvPr>
          <p:cNvPicPr>
            <a:picLocks noChangeAspect="1"/>
          </p:cNvPicPr>
          <p:nvPr/>
        </p:nvPicPr>
        <p:blipFill>
          <a:blip r:embed="rId4"/>
          <a:stretch>
            <a:fillRect/>
          </a:stretch>
        </p:blipFill>
        <p:spPr>
          <a:xfrm>
            <a:off x="5120640" y="4096512"/>
            <a:ext cx="256032" cy="256032"/>
          </a:xfrm>
          <a:prstGeom prst="rect">
            <a:avLst/>
          </a:prstGeom>
        </p:spPr>
      </p:pic>
      <p:sp>
        <p:nvSpPr>
          <p:cNvPr id="15" name="Text 9"/>
          <p:cNvSpPr txBox="1"/>
          <p:nvPr/>
        </p:nvSpPr>
        <p:spPr>
          <a:xfrm>
            <a:off x="5486400" y="4069080"/>
            <a:ext cx="3108960" cy="329184"/>
          </a:xfrm>
          <a:prstGeom prst="rect">
            <a:avLst/>
          </a:prstGeom>
          <a:noFill/>
          <a:ln/>
        </p:spPr>
        <p:txBody>
          <a:bodyPr wrap="square" lIns="0" tIns="0" rIns="0" bIns="0" rtlCol="0" anchor="ctr"/>
          <a:lstStyle/>
          <a:p>
            <a:pPr indent="0" marL="0">
              <a:buNone/>
            </a:pPr>
            <a:r>
              <a:rPr lang="en-US" sz="1300" dirty="0">
                <a:solidFill>
                  <a:srgbClr val="1B1B1F"/>
                </a:solidFill>
              </a:rPr>
              <a:t>TV remote: a sensor and a tiny chip</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Mechanical: designing the body</a:t>
            </a:r>
            <a:endParaRPr lang="en-US" sz="3200" dirty="0"/>
          </a:p>
        </p:txBody>
      </p:sp>
      <p:pic>
        <p:nvPicPr>
          <p:cNvPr id="3" name="Image 0" descr="preencoded.png">    </p:cNvPr>
          <p:cNvPicPr>
            <a:picLocks noChangeAspect="1"/>
          </p:cNvPicPr>
          <p:nvPr/>
        </p:nvPicPr>
        <p:blipFill>
          <a:blip r:embed="rId1"/>
          <a:stretch>
            <a:fillRect/>
          </a:stretch>
        </p:blipFill>
        <p:spPr>
          <a:xfrm>
            <a:off x="457200" y="1188720"/>
            <a:ext cx="2743200" cy="1810512"/>
          </a:xfrm>
          <a:prstGeom prst="rect">
            <a:avLst/>
          </a:prstGeom>
        </p:spPr>
      </p:pic>
      <p:pic>
        <p:nvPicPr>
          <p:cNvPr id="4" name="Image 1" descr="preencoded.png">    </p:cNvPr>
          <p:cNvPicPr>
            <a:picLocks noChangeAspect="1"/>
          </p:cNvPicPr>
          <p:nvPr/>
        </p:nvPicPr>
        <p:blipFill>
          <a:blip r:embed="rId2"/>
          <a:stretch>
            <a:fillRect/>
          </a:stretch>
        </p:blipFill>
        <p:spPr>
          <a:xfrm>
            <a:off x="457200" y="3108960"/>
            <a:ext cx="2743200" cy="1463040"/>
          </a:xfrm>
          <a:prstGeom prst="rect">
            <a:avLst/>
          </a:prstGeom>
        </p:spPr>
      </p:pic>
      <p:sp>
        <p:nvSpPr>
          <p:cNvPr id="5" name="Shape 1"/>
          <p:cNvSpPr/>
          <p:nvPr/>
        </p:nvSpPr>
        <p:spPr>
          <a:xfrm>
            <a:off x="3566160" y="1234440"/>
            <a:ext cx="457200" cy="457200"/>
          </a:xfrm>
          <a:prstGeom prst="ellipse">
            <a:avLst/>
          </a:prstGeom>
          <a:solidFill>
            <a:srgbClr val="2E9E4F"/>
          </a:solidFill>
          <a:ln w="12700">
            <a:solidFill>
              <a:srgbClr val="2E9E4F"/>
            </a:solidFill>
            <a:prstDash val="solid"/>
          </a:ln>
        </p:spPr>
      </p:sp>
      <p:pic>
        <p:nvPicPr>
          <p:cNvPr id="6" name="Image 2" descr="preencoded.png">    </p:cNvPr>
          <p:cNvPicPr>
            <a:picLocks noChangeAspect="1"/>
          </p:cNvPicPr>
          <p:nvPr/>
        </p:nvPicPr>
        <p:blipFill>
          <a:blip r:embed="rId3"/>
          <a:stretch>
            <a:fillRect/>
          </a:stretch>
        </p:blipFill>
        <p:spPr>
          <a:xfrm>
            <a:off x="3666744" y="1335024"/>
            <a:ext cx="256032" cy="256032"/>
          </a:xfrm>
          <a:prstGeom prst="rect">
            <a:avLst/>
          </a:prstGeom>
        </p:spPr>
      </p:pic>
      <p:sp>
        <p:nvSpPr>
          <p:cNvPr id="7" name="Text 2"/>
          <p:cNvSpPr txBox="1"/>
          <p:nvPr/>
        </p:nvSpPr>
        <p:spPr>
          <a:xfrm>
            <a:off x="4206240" y="1188720"/>
            <a:ext cx="4480560" cy="320040"/>
          </a:xfrm>
          <a:prstGeom prst="rect">
            <a:avLst/>
          </a:prstGeom>
          <a:noFill/>
          <a:ln/>
        </p:spPr>
        <p:txBody>
          <a:bodyPr wrap="square" lIns="0" tIns="0" rIns="0" bIns="0" rtlCol="0" anchor="t"/>
          <a:lstStyle/>
          <a:p>
            <a:pPr indent="0" marL="0">
              <a:buNone/>
            </a:pPr>
            <a:r>
              <a:rPr lang="en-US" sz="1600" b="1" dirty="0">
                <a:solidFill>
                  <a:srgbClr val="0B2545"/>
                </a:solidFill>
              </a:rPr>
              <a:t>Designed in CAD</a:t>
            </a:r>
            <a:endParaRPr lang="en-US" sz="1600" dirty="0"/>
          </a:p>
        </p:txBody>
      </p:sp>
      <p:sp>
        <p:nvSpPr>
          <p:cNvPr id="8" name="Text 3"/>
          <p:cNvSpPr txBox="1"/>
          <p:nvPr/>
        </p:nvSpPr>
        <p:spPr>
          <a:xfrm>
            <a:off x="4206240" y="1508760"/>
            <a:ext cx="4480560" cy="685800"/>
          </a:xfrm>
          <a:prstGeom prst="rect">
            <a:avLst/>
          </a:prstGeom>
          <a:noFill/>
          <a:ln/>
        </p:spPr>
        <p:txBody>
          <a:bodyPr wrap="square" lIns="0" tIns="0" rIns="0" bIns="0" rtlCol="0" anchor="t"/>
          <a:lstStyle/>
          <a:p>
            <a:pPr indent="0" marL="0">
              <a:buNone/>
            </a:pPr>
            <a:r>
              <a:rPr lang="en-US" sz="1400" dirty="0">
                <a:solidFill>
                  <a:srgbClr val="1B1B1F"/>
                </a:solidFill>
              </a:rPr>
              <a:t>Every part modelled on a computer, then 3D-printed or laser-cut from clear acrylic so you can see inside.</a:t>
            </a:r>
            <a:endParaRPr lang="en-US" sz="1400" dirty="0"/>
          </a:p>
        </p:txBody>
      </p:sp>
      <p:sp>
        <p:nvSpPr>
          <p:cNvPr id="9" name="Shape 4"/>
          <p:cNvSpPr/>
          <p:nvPr/>
        </p:nvSpPr>
        <p:spPr>
          <a:xfrm>
            <a:off x="3566160" y="2350008"/>
            <a:ext cx="457200" cy="457200"/>
          </a:xfrm>
          <a:prstGeom prst="ellipse">
            <a:avLst/>
          </a:prstGeom>
          <a:solidFill>
            <a:srgbClr val="2E9E4F"/>
          </a:solidFill>
          <a:ln w="12700">
            <a:solidFill>
              <a:srgbClr val="2E9E4F"/>
            </a:solidFill>
            <a:prstDash val="solid"/>
          </a:ln>
        </p:spPr>
      </p:sp>
      <p:pic>
        <p:nvPicPr>
          <p:cNvPr id="10" name="Image 3" descr="preencoded.png">    </p:cNvPr>
          <p:cNvPicPr>
            <a:picLocks noChangeAspect="1"/>
          </p:cNvPicPr>
          <p:nvPr/>
        </p:nvPicPr>
        <p:blipFill>
          <a:blip r:embed="rId4"/>
          <a:stretch>
            <a:fillRect/>
          </a:stretch>
        </p:blipFill>
        <p:spPr>
          <a:xfrm>
            <a:off x="3666744" y="2450592"/>
            <a:ext cx="256032" cy="256032"/>
          </a:xfrm>
          <a:prstGeom prst="rect">
            <a:avLst/>
          </a:prstGeom>
        </p:spPr>
      </p:pic>
      <p:sp>
        <p:nvSpPr>
          <p:cNvPr id="11" name="Text 5"/>
          <p:cNvSpPr txBox="1"/>
          <p:nvPr/>
        </p:nvSpPr>
        <p:spPr>
          <a:xfrm>
            <a:off x="4206240" y="2304288"/>
            <a:ext cx="4480560" cy="320040"/>
          </a:xfrm>
          <a:prstGeom prst="rect">
            <a:avLst/>
          </a:prstGeom>
          <a:noFill/>
          <a:ln/>
        </p:spPr>
        <p:txBody>
          <a:bodyPr wrap="square" lIns="0" tIns="0" rIns="0" bIns="0" rtlCol="0" anchor="t"/>
          <a:lstStyle/>
          <a:p>
            <a:pPr indent="0" marL="0">
              <a:buNone/>
            </a:pPr>
            <a:r>
              <a:rPr lang="en-US" sz="1600" b="1" dirty="0">
                <a:solidFill>
                  <a:srgbClr val="0B2545"/>
                </a:solidFill>
              </a:rPr>
              <a:t>Shaped like real cars</a:t>
            </a:r>
            <a:endParaRPr lang="en-US" sz="1600" dirty="0"/>
          </a:p>
        </p:txBody>
      </p:sp>
      <p:sp>
        <p:nvSpPr>
          <p:cNvPr id="12" name="Text 6"/>
          <p:cNvSpPr txBox="1"/>
          <p:nvPr/>
        </p:nvSpPr>
        <p:spPr>
          <a:xfrm>
            <a:off x="4206240" y="2624328"/>
            <a:ext cx="4480560" cy="685800"/>
          </a:xfrm>
          <a:prstGeom prst="rect">
            <a:avLst/>
          </a:prstGeom>
          <a:noFill/>
          <a:ln/>
        </p:spPr>
        <p:txBody>
          <a:bodyPr wrap="square" lIns="0" tIns="0" rIns="0" bIns="0" rtlCol="0" anchor="t"/>
          <a:lstStyle/>
          <a:p>
            <a:pPr indent="0" marL="0">
              <a:buNone/>
            </a:pPr>
            <a:r>
              <a:rPr lang="en-US" sz="1400" dirty="0">
                <a:solidFill>
                  <a:srgbClr val="1B1B1F"/>
                </a:solidFill>
              </a:rPr>
              <a:t>The angled nose and tail cut through air. Air drag only matters at high speed, so here the shape is for show.</a:t>
            </a:r>
            <a:endParaRPr lang="en-US" sz="1400" dirty="0"/>
          </a:p>
        </p:txBody>
      </p:sp>
      <p:sp>
        <p:nvSpPr>
          <p:cNvPr id="13" name="Shape 7"/>
          <p:cNvSpPr/>
          <p:nvPr/>
        </p:nvSpPr>
        <p:spPr>
          <a:xfrm>
            <a:off x="3566160" y="3465576"/>
            <a:ext cx="457200" cy="457200"/>
          </a:xfrm>
          <a:prstGeom prst="ellipse">
            <a:avLst/>
          </a:prstGeom>
          <a:solidFill>
            <a:srgbClr val="2E9E4F"/>
          </a:solidFill>
          <a:ln w="12700">
            <a:solidFill>
              <a:srgbClr val="2E9E4F"/>
            </a:solidFill>
            <a:prstDash val="solid"/>
          </a:ln>
        </p:spPr>
      </p:sp>
      <p:pic>
        <p:nvPicPr>
          <p:cNvPr id="14" name="Image 4" descr="preencoded.png">    </p:cNvPr>
          <p:cNvPicPr>
            <a:picLocks noChangeAspect="1"/>
          </p:cNvPicPr>
          <p:nvPr/>
        </p:nvPicPr>
        <p:blipFill>
          <a:blip r:embed="rId5"/>
          <a:stretch>
            <a:fillRect/>
          </a:stretch>
        </p:blipFill>
        <p:spPr>
          <a:xfrm>
            <a:off x="3666744" y="3566160"/>
            <a:ext cx="256032" cy="256032"/>
          </a:xfrm>
          <a:prstGeom prst="rect">
            <a:avLst/>
          </a:prstGeom>
        </p:spPr>
      </p:pic>
      <p:sp>
        <p:nvSpPr>
          <p:cNvPr id="15" name="Text 8"/>
          <p:cNvSpPr txBox="1"/>
          <p:nvPr/>
        </p:nvSpPr>
        <p:spPr>
          <a:xfrm>
            <a:off x="4206240" y="3419856"/>
            <a:ext cx="4480560" cy="320040"/>
          </a:xfrm>
          <a:prstGeom prst="rect">
            <a:avLst/>
          </a:prstGeom>
          <a:noFill/>
          <a:ln/>
        </p:spPr>
        <p:txBody>
          <a:bodyPr wrap="square" lIns="0" tIns="0" rIns="0" bIns="0" rtlCol="0" anchor="t"/>
          <a:lstStyle/>
          <a:p>
            <a:pPr indent="0" marL="0">
              <a:buNone/>
            </a:pPr>
            <a:r>
              <a:rPr lang="en-US" sz="1600" b="1" dirty="0">
                <a:solidFill>
                  <a:srgbClr val="0B2545"/>
                </a:solidFill>
              </a:rPr>
              <a:t>Kept light</a:t>
            </a:r>
            <a:endParaRPr lang="en-US" sz="1600" dirty="0"/>
          </a:p>
        </p:txBody>
      </p:sp>
      <p:sp>
        <p:nvSpPr>
          <p:cNvPr id="16" name="Text 9"/>
          <p:cNvSpPr txBox="1"/>
          <p:nvPr/>
        </p:nvSpPr>
        <p:spPr>
          <a:xfrm>
            <a:off x="4206240" y="3739896"/>
            <a:ext cx="4480560" cy="685800"/>
          </a:xfrm>
          <a:prstGeom prst="rect">
            <a:avLst/>
          </a:prstGeom>
          <a:noFill/>
          <a:ln/>
        </p:spPr>
        <p:txBody>
          <a:bodyPr wrap="square" lIns="0" tIns="0" rIns="0" bIns="0" rtlCol="0" anchor="t"/>
          <a:lstStyle/>
          <a:p>
            <a:pPr indent="0" marL="0">
              <a:buNone/>
            </a:pPr>
            <a:r>
              <a:rPr lang="en-US" sz="1400" dirty="0">
                <a:solidFill>
                  <a:srgbClr val="1B1B1F"/>
                </a:solidFill>
              </a:rPr>
              <a:t>F = m × a: a lighter car needs less force, and so less energy, to get moving.</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Mechanical: gears that follow the sun</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188720"/>
            <a:ext cx="4572000" cy="2569464"/>
          </a:xfrm>
          <a:prstGeom prst="rect">
            <a:avLst/>
          </a:prstGeom>
        </p:spPr>
      </p:pic>
      <p:sp>
        <p:nvSpPr>
          <p:cNvPr id="4" name="Text 1"/>
          <p:cNvSpPr txBox="1"/>
          <p:nvPr/>
        </p:nvSpPr>
        <p:spPr>
          <a:xfrm>
            <a:off x="457200" y="3822192"/>
            <a:ext cx="4572000" cy="320040"/>
          </a:xfrm>
          <a:prstGeom prst="rect">
            <a:avLst/>
          </a:prstGeom>
          <a:noFill/>
          <a:ln/>
        </p:spPr>
        <p:txBody>
          <a:bodyPr wrap="square" lIns="0" tIns="0" rIns="0" bIns="0" rtlCol="0" anchor="t"/>
          <a:lstStyle/>
          <a:p>
            <a:pPr indent="0" marL="0">
              <a:buNone/>
            </a:pPr>
            <a:r>
              <a:rPr lang="en-US" sz="1200" i="1" dirty="0">
                <a:solidFill>
                  <a:srgbClr val="5A6472"/>
                </a:solidFill>
              </a:rPr>
              <a:t>The tracker following a light in the lab</a:t>
            </a:r>
            <a:endParaRPr lang="en-US" sz="1200" dirty="0"/>
          </a:p>
        </p:txBody>
      </p:sp>
      <p:pic>
        <p:nvPicPr>
          <p:cNvPr id="5" name="Image 0" descr="preencoded.png">    </p:cNvPr>
          <p:cNvPicPr>
            <a:picLocks noChangeAspect="1"/>
          </p:cNvPicPr>
          <p:nvPr/>
        </p:nvPicPr>
        <p:blipFill>
          <a:blip r:embed="rId4"/>
          <a:stretch>
            <a:fillRect/>
          </a:stretch>
        </p:blipFill>
        <p:spPr>
          <a:xfrm>
            <a:off x="5303520" y="1188720"/>
            <a:ext cx="3383280" cy="1819656"/>
          </a:xfrm>
          <a:prstGeom prst="rect">
            <a:avLst/>
          </a:prstGeom>
        </p:spPr>
      </p:pic>
      <p:sp>
        <p:nvSpPr>
          <p:cNvPr id="6" name="Text 2"/>
          <p:cNvSpPr txBox="1"/>
          <p:nvPr/>
        </p:nvSpPr>
        <p:spPr>
          <a:xfrm>
            <a:off x="5303520" y="3154680"/>
            <a:ext cx="338328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1B1F"/>
                </a:solidFill>
              </a:rPr>
              <a:t>Gears change speed, force (torque) and direction of turning</a:t>
            </a:r>
            <a:endParaRPr lang="en-US" sz="1400" dirty="0"/>
          </a:p>
          <a:p>
            <a:pPr marL="342900" indent="-342900">
              <a:spcAft>
                <a:spcPts val="400"/>
              </a:spcAft>
              <a:buSzPct val="100000"/>
              <a:buChar char="•"/>
            </a:pPr>
            <a:r>
              <a:rPr lang="en-US" sz="1400" dirty="0">
                <a:solidFill>
                  <a:srgbClr val="1B1B1F"/>
                </a:solidFill>
              </a:rPr>
              <a:t>Tooth counts and sizes follow exact ratios</a:t>
            </a:r>
            <a:endParaRPr lang="en-US" sz="1400" dirty="0"/>
          </a:p>
          <a:p>
            <a:pPr marL="342900" indent="-342900">
              <a:spcAft>
                <a:spcPts val="400"/>
              </a:spcAft>
              <a:buSzPct val="100000"/>
              <a:buChar char="•"/>
            </a:pPr>
            <a:r>
              <a:rPr lang="en-US" sz="1400" dirty="0">
                <a:solidFill>
                  <a:srgbClr val="1B1B1F"/>
                </a:solidFill>
              </a:rPr>
              <a:t>Two motors tilt and turn the panel towards the brightest light</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Renewables: how a solar panel works</a:t>
            </a:r>
            <a:endParaRPr lang="en-US" sz="3200" dirty="0"/>
          </a:p>
        </p:txBody>
      </p:sp>
      <p:pic>
        <p:nvPicPr>
          <p:cNvPr id="3" name="Image 0" descr="preencoded.png">    </p:cNvPr>
          <p:cNvPicPr>
            <a:picLocks noChangeAspect="1"/>
          </p:cNvPicPr>
          <p:nvPr/>
        </p:nvPicPr>
        <p:blipFill>
          <a:blip r:embed="rId1"/>
          <a:stretch>
            <a:fillRect/>
          </a:stretch>
        </p:blipFill>
        <p:spPr>
          <a:xfrm>
            <a:off x="548640" y="1234440"/>
            <a:ext cx="594360" cy="594360"/>
          </a:xfrm>
          <a:prstGeom prst="rect">
            <a:avLst/>
          </a:prstGeom>
        </p:spPr>
      </p:pic>
      <p:sp>
        <p:nvSpPr>
          <p:cNvPr id="4" name="Text 1"/>
          <p:cNvSpPr txBox="1"/>
          <p:nvPr/>
        </p:nvSpPr>
        <p:spPr>
          <a:xfrm>
            <a:off x="365760" y="1874520"/>
            <a:ext cx="960120" cy="274320"/>
          </a:xfrm>
          <a:prstGeom prst="rect">
            <a:avLst/>
          </a:prstGeom>
          <a:noFill/>
          <a:ln/>
        </p:spPr>
        <p:txBody>
          <a:bodyPr wrap="square" lIns="0" tIns="0" rIns="0" bIns="0" rtlCol="0" anchor="t"/>
          <a:lstStyle/>
          <a:p>
            <a:pPr algn="ctr" indent="0" marL="0">
              <a:buNone/>
            </a:pPr>
            <a:r>
              <a:rPr lang="en-US" sz="1300" b="1" dirty="0">
                <a:solidFill>
                  <a:srgbClr val="1B1B1F"/>
                </a:solidFill>
              </a:rPr>
              <a:t>Solar</a:t>
            </a:r>
            <a:endParaRPr lang="en-US" sz="1300" dirty="0"/>
          </a:p>
        </p:txBody>
      </p:sp>
      <p:pic>
        <p:nvPicPr>
          <p:cNvPr id="5" name="Image 1" descr="preencoded.png">    </p:cNvPr>
          <p:cNvPicPr>
            <a:picLocks noChangeAspect="1"/>
          </p:cNvPicPr>
          <p:nvPr/>
        </p:nvPicPr>
        <p:blipFill>
          <a:blip r:embed="rId2"/>
          <a:stretch>
            <a:fillRect/>
          </a:stretch>
        </p:blipFill>
        <p:spPr>
          <a:xfrm>
            <a:off x="1691640" y="1234440"/>
            <a:ext cx="594360" cy="594360"/>
          </a:xfrm>
          <a:prstGeom prst="rect">
            <a:avLst/>
          </a:prstGeom>
        </p:spPr>
      </p:pic>
      <p:sp>
        <p:nvSpPr>
          <p:cNvPr id="6" name="Text 2"/>
          <p:cNvSpPr txBox="1"/>
          <p:nvPr/>
        </p:nvSpPr>
        <p:spPr>
          <a:xfrm>
            <a:off x="1508760" y="1874520"/>
            <a:ext cx="960120" cy="274320"/>
          </a:xfrm>
          <a:prstGeom prst="rect">
            <a:avLst/>
          </a:prstGeom>
          <a:noFill/>
          <a:ln/>
        </p:spPr>
        <p:txBody>
          <a:bodyPr wrap="square" lIns="0" tIns="0" rIns="0" bIns="0" rtlCol="0" anchor="t"/>
          <a:lstStyle/>
          <a:p>
            <a:pPr algn="ctr" indent="0" marL="0">
              <a:buNone/>
            </a:pPr>
            <a:r>
              <a:rPr lang="en-US" sz="1300" b="1" dirty="0">
                <a:solidFill>
                  <a:srgbClr val="1B1B1F"/>
                </a:solidFill>
              </a:rPr>
              <a:t>Wind</a:t>
            </a:r>
            <a:endParaRPr lang="en-US" sz="1300" dirty="0"/>
          </a:p>
        </p:txBody>
      </p:sp>
      <p:pic>
        <p:nvPicPr>
          <p:cNvPr id="7" name="Image 2" descr="preencoded.png">    </p:cNvPr>
          <p:cNvPicPr>
            <a:picLocks noChangeAspect="1"/>
          </p:cNvPicPr>
          <p:nvPr/>
        </p:nvPicPr>
        <p:blipFill>
          <a:blip r:embed="rId3"/>
          <a:stretch>
            <a:fillRect/>
          </a:stretch>
        </p:blipFill>
        <p:spPr>
          <a:xfrm>
            <a:off x="2834640" y="1234440"/>
            <a:ext cx="594360" cy="594360"/>
          </a:xfrm>
          <a:prstGeom prst="rect">
            <a:avLst/>
          </a:prstGeom>
        </p:spPr>
      </p:pic>
      <p:sp>
        <p:nvSpPr>
          <p:cNvPr id="8" name="Text 3"/>
          <p:cNvSpPr txBox="1"/>
          <p:nvPr/>
        </p:nvSpPr>
        <p:spPr>
          <a:xfrm>
            <a:off x="2651760" y="1874520"/>
            <a:ext cx="960120" cy="274320"/>
          </a:xfrm>
          <a:prstGeom prst="rect">
            <a:avLst/>
          </a:prstGeom>
          <a:noFill/>
          <a:ln/>
        </p:spPr>
        <p:txBody>
          <a:bodyPr wrap="square" lIns="0" tIns="0" rIns="0" bIns="0" rtlCol="0" anchor="t"/>
          <a:lstStyle/>
          <a:p>
            <a:pPr algn="ctr" indent="0" marL="0">
              <a:buNone/>
            </a:pPr>
            <a:r>
              <a:rPr lang="en-US" sz="1300" b="1" dirty="0">
                <a:solidFill>
                  <a:srgbClr val="1B1B1F"/>
                </a:solidFill>
              </a:rPr>
              <a:t>Hydro</a:t>
            </a:r>
            <a:endParaRPr lang="en-US" sz="1300" dirty="0"/>
          </a:p>
        </p:txBody>
      </p:sp>
      <p:sp>
        <p:nvSpPr>
          <p:cNvPr id="9" name="Text 4"/>
          <p:cNvSpPr txBox="1"/>
          <p:nvPr/>
        </p:nvSpPr>
        <p:spPr>
          <a:xfrm>
            <a:off x="457200" y="2286000"/>
            <a:ext cx="3474720" cy="822960"/>
          </a:xfrm>
          <a:prstGeom prst="rect">
            <a:avLst/>
          </a:prstGeom>
          <a:noFill/>
          <a:ln/>
        </p:spPr>
        <p:txBody>
          <a:bodyPr wrap="square" lIns="0" tIns="0" rIns="0" bIns="0" rtlCol="0" anchor="t"/>
          <a:lstStyle/>
          <a:p>
            <a:pPr indent="0" marL="0">
              <a:buNone/>
            </a:pPr>
            <a:r>
              <a:rPr lang="en-US" sz="1500" dirty="0">
                <a:solidFill>
                  <a:srgbClr val="1B1B1F"/>
                </a:solidFill>
              </a:rPr>
              <a:t>Renewables turn natural energy into electricity, the easiest form of energy to move and use.</a:t>
            </a:r>
            <a:endParaRPr lang="en-US" sz="1500" dirty="0"/>
          </a:p>
        </p:txBody>
      </p:sp>
      <p:sp>
        <p:nvSpPr>
          <p:cNvPr id="10" name="Shape 5"/>
          <p:cNvSpPr/>
          <p:nvPr/>
        </p:nvSpPr>
        <p:spPr>
          <a:xfrm>
            <a:off x="457200" y="3246120"/>
            <a:ext cx="3474720" cy="1325880"/>
          </a:xfrm>
          <a:prstGeom prst="roundRect">
            <a:avLst>
              <a:gd name="adj" fmla="val 8276"/>
            </a:avLst>
          </a:prstGeom>
          <a:solidFill>
            <a:srgbClr val="FFF4D6"/>
          </a:solidFill>
          <a:ln w="12700">
            <a:solidFill>
              <a:srgbClr val="FFF4D6"/>
            </a:solidFill>
            <a:prstDash val="solid"/>
          </a:ln>
        </p:spPr>
      </p:sp>
      <p:sp>
        <p:nvSpPr>
          <p:cNvPr id="11" name="Text 6"/>
          <p:cNvSpPr txBox="1"/>
          <p:nvPr/>
        </p:nvSpPr>
        <p:spPr>
          <a:xfrm>
            <a:off x="640080" y="3337560"/>
            <a:ext cx="3108960" cy="1143000"/>
          </a:xfrm>
          <a:prstGeom prst="rect">
            <a:avLst/>
          </a:prstGeom>
          <a:noFill/>
          <a:ln/>
        </p:spPr>
        <p:txBody>
          <a:bodyPr wrap="square" lIns="0" tIns="0" rIns="0" bIns="0" rtlCol="0" anchor="ctr"/>
          <a:lstStyle/>
          <a:p>
            <a:pPr indent="0" marL="0">
              <a:buNone/>
            </a:pPr>
            <a:r>
              <a:rPr lang="en-US" sz="1500" b="1" dirty="0">
                <a:solidFill>
                  <a:srgbClr val="0B2545"/>
                </a:solidFill>
              </a:rPr>
              <a:t>Careers: designing solar farms, battery systems and electric vehicles.</a:t>
            </a:r>
            <a:endParaRPr lang="en-US" sz="1500" dirty="0"/>
          </a:p>
        </p:txBody>
      </p:sp>
      <p:pic>
        <p:nvPicPr>
          <p:cNvPr id="12" name="Image 3" descr="preencoded.png">    </p:cNvPr>
          <p:cNvPicPr>
            <a:picLocks noChangeAspect="1"/>
          </p:cNvPicPr>
          <p:nvPr/>
        </p:nvPicPr>
        <p:blipFill>
          <a:blip r:embed="rId4"/>
          <a:stretch>
            <a:fillRect/>
          </a:stretch>
        </p:blipFill>
        <p:spPr>
          <a:xfrm>
            <a:off x="4389120" y="1234440"/>
            <a:ext cx="822960" cy="822960"/>
          </a:xfrm>
          <a:prstGeom prst="rect">
            <a:avLst/>
          </a:prstGeom>
        </p:spPr>
      </p:pic>
      <p:sp>
        <p:nvSpPr>
          <p:cNvPr id="13" name="Shape 7"/>
          <p:cNvSpPr/>
          <p:nvPr/>
        </p:nvSpPr>
        <p:spPr>
          <a:xfrm>
            <a:off x="5029200" y="2011680"/>
            <a:ext cx="457200" cy="777240"/>
          </a:xfrm>
          <a:prstGeom prst="line">
            <a:avLst/>
          </a:prstGeom>
          <a:noFill/>
          <a:ln w="31750">
            <a:solidFill>
              <a:srgbClr val="F2A900"/>
            </a:solidFill>
            <a:prstDash val="solid"/>
            <a:tailEnd type="triangle"/>
          </a:ln>
        </p:spPr>
      </p:sp>
      <p:sp>
        <p:nvSpPr>
          <p:cNvPr id="14" name="Shape 8"/>
          <p:cNvSpPr/>
          <p:nvPr/>
        </p:nvSpPr>
        <p:spPr>
          <a:xfrm>
            <a:off x="5349240" y="2011680"/>
            <a:ext cx="457200" cy="777240"/>
          </a:xfrm>
          <a:prstGeom prst="line">
            <a:avLst/>
          </a:prstGeom>
          <a:noFill/>
          <a:ln w="31750">
            <a:solidFill>
              <a:srgbClr val="F2A900"/>
            </a:solidFill>
            <a:prstDash val="solid"/>
            <a:tailEnd type="triangle"/>
          </a:ln>
        </p:spPr>
      </p:sp>
      <p:sp>
        <p:nvSpPr>
          <p:cNvPr id="15" name="Shape 9"/>
          <p:cNvSpPr/>
          <p:nvPr/>
        </p:nvSpPr>
        <p:spPr>
          <a:xfrm>
            <a:off x="5669280" y="2011680"/>
            <a:ext cx="457200" cy="777240"/>
          </a:xfrm>
          <a:prstGeom prst="line">
            <a:avLst/>
          </a:prstGeom>
          <a:noFill/>
          <a:ln w="31750">
            <a:solidFill>
              <a:srgbClr val="F2A900"/>
            </a:solidFill>
            <a:prstDash val="solid"/>
            <a:tailEnd type="triangle"/>
          </a:ln>
        </p:spPr>
      </p:sp>
      <p:sp>
        <p:nvSpPr>
          <p:cNvPr id="16" name="Text 10"/>
          <p:cNvSpPr txBox="1"/>
          <p:nvPr/>
        </p:nvSpPr>
        <p:spPr>
          <a:xfrm>
            <a:off x="6035040" y="1417320"/>
            <a:ext cx="2560320" cy="365760"/>
          </a:xfrm>
          <a:prstGeom prst="rect">
            <a:avLst/>
          </a:prstGeom>
          <a:noFill/>
          <a:ln/>
        </p:spPr>
        <p:txBody>
          <a:bodyPr wrap="square" lIns="0" tIns="0" rIns="0" bIns="0" rtlCol="0" anchor="t"/>
          <a:lstStyle/>
          <a:p>
            <a:pPr indent="0" marL="0">
              <a:buNone/>
            </a:pPr>
            <a:r>
              <a:rPr lang="en-US" sz="1300" b="1" dirty="0">
                <a:solidFill>
                  <a:srgbClr val="B07800"/>
                </a:solidFill>
              </a:rPr>
              <a:t>photons (light energy)</a:t>
            </a:r>
            <a:endParaRPr lang="en-US" sz="1300" dirty="0"/>
          </a:p>
        </p:txBody>
      </p:sp>
      <p:sp>
        <p:nvSpPr>
          <p:cNvPr id="17" name="Shape 11"/>
          <p:cNvSpPr/>
          <p:nvPr/>
        </p:nvSpPr>
        <p:spPr>
          <a:xfrm>
            <a:off x="4572000" y="2834640"/>
            <a:ext cx="2926080" cy="502920"/>
          </a:xfrm>
          <a:prstGeom prst="rect">
            <a:avLst/>
          </a:prstGeom>
          <a:solidFill>
            <a:srgbClr val="0B2545"/>
          </a:solidFill>
          <a:ln w="12700">
            <a:solidFill>
              <a:srgbClr val="0B2545"/>
            </a:solidFill>
            <a:prstDash val="solid"/>
          </a:ln>
        </p:spPr>
      </p:sp>
      <p:sp>
        <p:nvSpPr>
          <p:cNvPr id="18" name="Text 12"/>
          <p:cNvSpPr txBox="1"/>
          <p:nvPr/>
        </p:nvSpPr>
        <p:spPr>
          <a:xfrm>
            <a:off x="4572000" y="2834640"/>
            <a:ext cx="2926080" cy="502920"/>
          </a:xfrm>
          <a:prstGeom prst="rect">
            <a:avLst/>
          </a:prstGeom>
          <a:noFill/>
          <a:ln/>
        </p:spPr>
        <p:txBody>
          <a:bodyPr wrap="square" lIns="0" tIns="0" rIns="0" bIns="0" rtlCol="0" anchor="ctr"/>
          <a:lstStyle/>
          <a:p>
            <a:pPr algn="ctr" indent="0" marL="0">
              <a:buNone/>
            </a:pPr>
            <a:r>
              <a:rPr lang="en-US" sz="1300" b="1" dirty="0">
                <a:solidFill>
                  <a:srgbClr val="FFFFFF"/>
                </a:solidFill>
              </a:rPr>
              <a:t>solar cell (semiconductor)</a:t>
            </a:r>
            <a:endParaRPr lang="en-US" sz="1300" dirty="0"/>
          </a:p>
        </p:txBody>
      </p:sp>
      <p:sp>
        <p:nvSpPr>
          <p:cNvPr id="19" name="Shape 13"/>
          <p:cNvSpPr/>
          <p:nvPr/>
        </p:nvSpPr>
        <p:spPr>
          <a:xfrm>
            <a:off x="7498080" y="3081528"/>
            <a:ext cx="685800" cy="0"/>
          </a:xfrm>
          <a:prstGeom prst="line">
            <a:avLst/>
          </a:prstGeom>
          <a:noFill/>
          <a:ln w="31750">
            <a:solidFill>
              <a:srgbClr val="1C6EA4"/>
            </a:solidFill>
            <a:prstDash val="solid"/>
            <a:tailEnd type="triangle"/>
          </a:ln>
        </p:spPr>
      </p:sp>
      <p:sp>
        <p:nvSpPr>
          <p:cNvPr id="20" name="Text 14"/>
          <p:cNvSpPr txBox="1"/>
          <p:nvPr/>
        </p:nvSpPr>
        <p:spPr>
          <a:xfrm>
            <a:off x="4572000" y="3474720"/>
            <a:ext cx="4114800" cy="365760"/>
          </a:xfrm>
          <a:prstGeom prst="rect">
            <a:avLst/>
          </a:prstGeom>
          <a:noFill/>
          <a:ln/>
        </p:spPr>
        <p:txBody>
          <a:bodyPr wrap="square" lIns="0" tIns="0" rIns="0" bIns="0" rtlCol="0" anchor="t"/>
          <a:lstStyle/>
          <a:p>
            <a:pPr indent="0" marL="0">
              <a:buNone/>
            </a:pPr>
            <a:r>
              <a:rPr lang="en-US" sz="1300" b="1" dirty="0">
                <a:solidFill>
                  <a:srgbClr val="1C6EA4"/>
                </a:solidFill>
              </a:rPr>
              <a:t>electrons flow = electricity</a:t>
            </a:r>
            <a:endParaRPr lang="en-US" sz="1300" dirty="0"/>
          </a:p>
        </p:txBody>
      </p:sp>
      <p:sp>
        <p:nvSpPr>
          <p:cNvPr id="21" name="Text 15"/>
          <p:cNvSpPr txBox="1"/>
          <p:nvPr/>
        </p:nvSpPr>
        <p:spPr>
          <a:xfrm>
            <a:off x="4572000" y="3977640"/>
            <a:ext cx="4114800" cy="548640"/>
          </a:xfrm>
          <a:prstGeom prst="rect">
            <a:avLst/>
          </a:prstGeom>
          <a:noFill/>
          <a:ln/>
        </p:spPr>
        <p:txBody>
          <a:bodyPr wrap="square" lIns="0" tIns="0" rIns="0" bIns="0" rtlCol="0" anchor="t"/>
          <a:lstStyle/>
          <a:p>
            <a:pPr indent="0" marL="0">
              <a:buNone/>
            </a:pPr>
            <a:r>
              <a:rPr lang="en-US" sz="1400" dirty="0">
                <a:solidFill>
                  <a:srgbClr val="1B1B1F"/>
                </a:solidFill>
              </a:rPr>
              <a:t>Bigger panels catch more light, so they make more power.</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Why the sun charges a battery</a:t>
            </a:r>
            <a:endParaRPr lang="en-US" sz="3200" dirty="0"/>
          </a:p>
        </p:txBody>
      </p:sp>
      <p:sp>
        <p:nvSpPr>
          <p:cNvPr id="3" name="Shape 1"/>
          <p:cNvSpPr/>
          <p:nvPr/>
        </p:nvSpPr>
        <p:spPr>
          <a:xfrm>
            <a:off x="502920" y="1280160"/>
            <a:ext cx="914400" cy="914400"/>
          </a:xfrm>
          <a:prstGeom prst="ellipse">
            <a:avLst/>
          </a:prstGeom>
          <a:solidFill>
            <a:srgbClr val="FFF4D6"/>
          </a:solidFill>
          <a:ln w="12700">
            <a:solidFill>
              <a:srgbClr val="FFF4D6"/>
            </a:solidFill>
            <a:prstDash val="solid"/>
          </a:ln>
        </p:spPr>
      </p:sp>
      <p:pic>
        <p:nvPicPr>
          <p:cNvPr id="4" name="Image 0" descr="preencoded.png">    </p:cNvPr>
          <p:cNvPicPr>
            <a:picLocks noChangeAspect="1"/>
          </p:cNvPicPr>
          <p:nvPr/>
        </p:nvPicPr>
        <p:blipFill>
          <a:blip r:embed="rId1"/>
          <a:stretch>
            <a:fillRect/>
          </a:stretch>
        </p:blipFill>
        <p:spPr>
          <a:xfrm>
            <a:off x="704088" y="1481328"/>
            <a:ext cx="512064" cy="512064"/>
          </a:xfrm>
          <a:prstGeom prst="rect">
            <a:avLst/>
          </a:prstGeom>
        </p:spPr>
      </p:pic>
      <p:sp>
        <p:nvSpPr>
          <p:cNvPr id="5" name="Text 2"/>
          <p:cNvSpPr txBox="1"/>
          <p:nvPr/>
        </p:nvSpPr>
        <p:spPr>
          <a:xfrm>
            <a:off x="22860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Sun</a:t>
            </a:r>
            <a:endParaRPr lang="en-US" sz="1300" dirty="0"/>
          </a:p>
        </p:txBody>
      </p:sp>
      <p:pic>
        <p:nvPicPr>
          <p:cNvPr id="6" name="Image 1" descr="preencoded.png">    </p:cNvPr>
          <p:cNvPicPr>
            <a:picLocks noChangeAspect="1"/>
          </p:cNvPicPr>
          <p:nvPr/>
        </p:nvPicPr>
        <p:blipFill>
          <a:blip r:embed="rId2"/>
          <a:stretch>
            <a:fillRect/>
          </a:stretch>
        </p:blipFill>
        <p:spPr>
          <a:xfrm>
            <a:off x="1645920" y="1600200"/>
            <a:ext cx="320040" cy="274320"/>
          </a:xfrm>
          <a:prstGeom prst="rect">
            <a:avLst/>
          </a:prstGeom>
        </p:spPr>
      </p:pic>
      <p:sp>
        <p:nvSpPr>
          <p:cNvPr id="7" name="Shape 3"/>
          <p:cNvSpPr/>
          <p:nvPr/>
        </p:nvSpPr>
        <p:spPr>
          <a:xfrm>
            <a:off x="2240280" y="1280160"/>
            <a:ext cx="914400" cy="914400"/>
          </a:xfrm>
          <a:prstGeom prst="ellipse">
            <a:avLst/>
          </a:prstGeom>
          <a:solidFill>
            <a:srgbClr val="EEF3F8"/>
          </a:solidFill>
          <a:ln w="12700">
            <a:solidFill>
              <a:srgbClr val="EEF3F8"/>
            </a:solidFill>
            <a:prstDash val="solid"/>
          </a:ln>
        </p:spPr>
      </p:sp>
      <p:pic>
        <p:nvPicPr>
          <p:cNvPr id="8" name="Image 2" descr="preencoded.png">    </p:cNvPr>
          <p:cNvPicPr>
            <a:picLocks noChangeAspect="1"/>
          </p:cNvPicPr>
          <p:nvPr/>
        </p:nvPicPr>
        <p:blipFill>
          <a:blip r:embed="rId3"/>
          <a:stretch>
            <a:fillRect/>
          </a:stretch>
        </p:blipFill>
        <p:spPr>
          <a:xfrm>
            <a:off x="2441448" y="1481328"/>
            <a:ext cx="512064" cy="512064"/>
          </a:xfrm>
          <a:prstGeom prst="rect">
            <a:avLst/>
          </a:prstGeom>
        </p:spPr>
      </p:pic>
      <p:sp>
        <p:nvSpPr>
          <p:cNvPr id="9" name="Text 4"/>
          <p:cNvSpPr txBox="1"/>
          <p:nvPr/>
        </p:nvSpPr>
        <p:spPr>
          <a:xfrm>
            <a:off x="196596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Panel</a:t>
            </a:r>
            <a:endParaRPr lang="en-US" sz="1300" dirty="0"/>
          </a:p>
        </p:txBody>
      </p:sp>
      <p:pic>
        <p:nvPicPr>
          <p:cNvPr id="10" name="Image 3" descr="preencoded.png">    </p:cNvPr>
          <p:cNvPicPr>
            <a:picLocks noChangeAspect="1"/>
          </p:cNvPicPr>
          <p:nvPr/>
        </p:nvPicPr>
        <p:blipFill>
          <a:blip r:embed="rId4"/>
          <a:stretch>
            <a:fillRect/>
          </a:stretch>
        </p:blipFill>
        <p:spPr>
          <a:xfrm>
            <a:off x="3383280" y="1600200"/>
            <a:ext cx="320040" cy="274320"/>
          </a:xfrm>
          <a:prstGeom prst="rect">
            <a:avLst/>
          </a:prstGeom>
        </p:spPr>
      </p:pic>
      <p:sp>
        <p:nvSpPr>
          <p:cNvPr id="11" name="Shape 5"/>
          <p:cNvSpPr/>
          <p:nvPr/>
        </p:nvSpPr>
        <p:spPr>
          <a:xfrm>
            <a:off x="3977640" y="1280160"/>
            <a:ext cx="914400" cy="914400"/>
          </a:xfrm>
          <a:prstGeom prst="ellipse">
            <a:avLst/>
          </a:prstGeom>
          <a:solidFill>
            <a:srgbClr val="EEF3F8"/>
          </a:solidFill>
          <a:ln w="12700">
            <a:solidFill>
              <a:srgbClr val="EEF3F8"/>
            </a:solidFill>
            <a:prstDash val="solid"/>
          </a:ln>
        </p:spPr>
      </p:sp>
      <p:pic>
        <p:nvPicPr>
          <p:cNvPr id="12" name="Image 4" descr="preencoded.png">    </p:cNvPr>
          <p:cNvPicPr>
            <a:picLocks noChangeAspect="1"/>
          </p:cNvPicPr>
          <p:nvPr/>
        </p:nvPicPr>
        <p:blipFill>
          <a:blip r:embed="rId5"/>
          <a:stretch>
            <a:fillRect/>
          </a:stretch>
        </p:blipFill>
        <p:spPr>
          <a:xfrm>
            <a:off x="4178808" y="1481328"/>
            <a:ext cx="512064" cy="512064"/>
          </a:xfrm>
          <a:prstGeom prst="rect">
            <a:avLst/>
          </a:prstGeom>
        </p:spPr>
      </p:pic>
      <p:sp>
        <p:nvSpPr>
          <p:cNvPr id="13" name="Text 6"/>
          <p:cNvSpPr txBox="1"/>
          <p:nvPr/>
        </p:nvSpPr>
        <p:spPr>
          <a:xfrm>
            <a:off x="370332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Solar controller</a:t>
            </a:r>
            <a:endParaRPr lang="en-US" sz="1300" dirty="0"/>
          </a:p>
        </p:txBody>
      </p:sp>
      <p:pic>
        <p:nvPicPr>
          <p:cNvPr id="14" name="Image 5" descr="preencoded.png">    </p:cNvPr>
          <p:cNvPicPr>
            <a:picLocks noChangeAspect="1"/>
          </p:cNvPicPr>
          <p:nvPr/>
        </p:nvPicPr>
        <p:blipFill>
          <a:blip r:embed="rId6"/>
          <a:stretch>
            <a:fillRect/>
          </a:stretch>
        </p:blipFill>
        <p:spPr>
          <a:xfrm>
            <a:off x="5120640" y="1600200"/>
            <a:ext cx="320040" cy="274320"/>
          </a:xfrm>
          <a:prstGeom prst="rect">
            <a:avLst/>
          </a:prstGeom>
        </p:spPr>
      </p:pic>
      <p:sp>
        <p:nvSpPr>
          <p:cNvPr id="15" name="Shape 7"/>
          <p:cNvSpPr/>
          <p:nvPr/>
        </p:nvSpPr>
        <p:spPr>
          <a:xfrm>
            <a:off x="5715000" y="1280160"/>
            <a:ext cx="914400" cy="914400"/>
          </a:xfrm>
          <a:prstGeom prst="ellipse">
            <a:avLst/>
          </a:prstGeom>
          <a:solidFill>
            <a:srgbClr val="EEF3F8"/>
          </a:solidFill>
          <a:ln w="12700">
            <a:solidFill>
              <a:srgbClr val="EEF3F8"/>
            </a:solidFill>
            <a:prstDash val="solid"/>
          </a:ln>
        </p:spPr>
      </p:sp>
      <p:pic>
        <p:nvPicPr>
          <p:cNvPr id="16" name="Image 6" descr="preencoded.png">    </p:cNvPr>
          <p:cNvPicPr>
            <a:picLocks noChangeAspect="1"/>
          </p:cNvPicPr>
          <p:nvPr/>
        </p:nvPicPr>
        <p:blipFill>
          <a:blip r:embed="rId7"/>
          <a:stretch>
            <a:fillRect/>
          </a:stretch>
        </p:blipFill>
        <p:spPr>
          <a:xfrm>
            <a:off x="5916168" y="1481328"/>
            <a:ext cx="512064" cy="512064"/>
          </a:xfrm>
          <a:prstGeom prst="rect">
            <a:avLst/>
          </a:prstGeom>
        </p:spPr>
      </p:pic>
      <p:sp>
        <p:nvSpPr>
          <p:cNvPr id="17" name="Text 8"/>
          <p:cNvSpPr txBox="1"/>
          <p:nvPr/>
        </p:nvSpPr>
        <p:spPr>
          <a:xfrm>
            <a:off x="544068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Battery</a:t>
            </a:r>
            <a:endParaRPr lang="en-US" sz="1300" dirty="0"/>
          </a:p>
        </p:txBody>
      </p:sp>
      <p:pic>
        <p:nvPicPr>
          <p:cNvPr id="18" name="Image 7" descr="preencoded.png">    </p:cNvPr>
          <p:cNvPicPr>
            <a:picLocks noChangeAspect="1"/>
          </p:cNvPicPr>
          <p:nvPr/>
        </p:nvPicPr>
        <p:blipFill>
          <a:blip r:embed="rId8"/>
          <a:stretch>
            <a:fillRect/>
          </a:stretch>
        </p:blipFill>
        <p:spPr>
          <a:xfrm>
            <a:off x="6858000" y="1600200"/>
            <a:ext cx="320040" cy="274320"/>
          </a:xfrm>
          <a:prstGeom prst="rect">
            <a:avLst/>
          </a:prstGeom>
        </p:spPr>
      </p:pic>
      <p:sp>
        <p:nvSpPr>
          <p:cNvPr id="19" name="Shape 9"/>
          <p:cNvSpPr/>
          <p:nvPr/>
        </p:nvSpPr>
        <p:spPr>
          <a:xfrm>
            <a:off x="7452360" y="1280160"/>
            <a:ext cx="914400" cy="914400"/>
          </a:xfrm>
          <a:prstGeom prst="ellipse">
            <a:avLst/>
          </a:prstGeom>
          <a:solidFill>
            <a:srgbClr val="EEF3F8"/>
          </a:solidFill>
          <a:ln w="12700">
            <a:solidFill>
              <a:srgbClr val="EEF3F8"/>
            </a:solidFill>
            <a:prstDash val="solid"/>
          </a:ln>
        </p:spPr>
      </p:sp>
      <p:pic>
        <p:nvPicPr>
          <p:cNvPr id="20" name="Image 8" descr="preencoded.png">    </p:cNvPr>
          <p:cNvPicPr>
            <a:picLocks noChangeAspect="1"/>
          </p:cNvPicPr>
          <p:nvPr/>
        </p:nvPicPr>
        <p:blipFill>
          <a:blip r:embed="rId9"/>
          <a:stretch>
            <a:fillRect/>
          </a:stretch>
        </p:blipFill>
        <p:spPr>
          <a:xfrm>
            <a:off x="7653528" y="1481328"/>
            <a:ext cx="512064" cy="512064"/>
          </a:xfrm>
          <a:prstGeom prst="rect">
            <a:avLst/>
          </a:prstGeom>
        </p:spPr>
      </p:pic>
      <p:sp>
        <p:nvSpPr>
          <p:cNvPr id="21" name="Text 10"/>
          <p:cNvSpPr txBox="1"/>
          <p:nvPr/>
        </p:nvSpPr>
        <p:spPr>
          <a:xfrm>
            <a:off x="7178040" y="2240280"/>
            <a:ext cx="1463040" cy="320040"/>
          </a:xfrm>
          <a:prstGeom prst="rect">
            <a:avLst/>
          </a:prstGeom>
          <a:noFill/>
          <a:ln/>
        </p:spPr>
        <p:txBody>
          <a:bodyPr wrap="square" lIns="0" tIns="0" rIns="0" bIns="0" rtlCol="0" anchor="t"/>
          <a:lstStyle/>
          <a:p>
            <a:pPr algn="ctr" indent="0" marL="0">
              <a:buNone/>
            </a:pPr>
            <a:r>
              <a:rPr lang="en-US" sz="1300" b="1" dirty="0">
                <a:solidFill>
                  <a:srgbClr val="1B1B1F"/>
                </a:solidFill>
              </a:rPr>
              <a:t>Car</a:t>
            </a:r>
            <a:endParaRPr lang="en-US" sz="1300" dirty="0"/>
          </a:p>
        </p:txBody>
      </p:sp>
      <p:sp>
        <p:nvSpPr>
          <p:cNvPr id="22" name="Shape 11"/>
          <p:cNvSpPr/>
          <p:nvPr/>
        </p:nvSpPr>
        <p:spPr>
          <a:xfrm>
            <a:off x="457200" y="2834640"/>
            <a:ext cx="3977640" cy="1737360"/>
          </a:xfrm>
          <a:prstGeom prst="roundRect">
            <a:avLst>
              <a:gd name="adj" fmla="val 6316"/>
            </a:avLst>
          </a:prstGeom>
          <a:solidFill>
            <a:srgbClr val="EEF3F8"/>
          </a:solidFill>
          <a:ln w="12700">
            <a:solidFill>
              <a:srgbClr val="EEF3F8"/>
            </a:solidFill>
            <a:prstDash val="solid"/>
          </a:ln>
        </p:spPr>
      </p:sp>
      <p:sp>
        <p:nvSpPr>
          <p:cNvPr id="23" name="Text 12"/>
          <p:cNvSpPr txBox="1"/>
          <p:nvPr/>
        </p:nvSpPr>
        <p:spPr>
          <a:xfrm>
            <a:off x="640080" y="2926080"/>
            <a:ext cx="3657600" cy="365760"/>
          </a:xfrm>
          <a:prstGeom prst="rect">
            <a:avLst/>
          </a:prstGeom>
          <a:noFill/>
          <a:ln/>
        </p:spPr>
        <p:txBody>
          <a:bodyPr wrap="square" lIns="0" tIns="0" rIns="0" bIns="0" rtlCol="0" anchor="t"/>
          <a:lstStyle/>
          <a:p>
            <a:pPr indent="0" marL="0">
              <a:buNone/>
            </a:pPr>
            <a:r>
              <a:rPr lang="en-US" sz="1600" b="1" dirty="0">
                <a:solidFill>
                  <a:srgbClr val="0B2545"/>
                </a:solidFill>
              </a:rPr>
              <a:t>Sunlight changes all the time</a:t>
            </a:r>
            <a:endParaRPr lang="en-US" sz="1600" dirty="0"/>
          </a:p>
        </p:txBody>
      </p:sp>
      <p:sp>
        <p:nvSpPr>
          <p:cNvPr id="24" name="Text 13"/>
          <p:cNvSpPr txBox="1"/>
          <p:nvPr/>
        </p:nvSpPr>
        <p:spPr>
          <a:xfrm>
            <a:off x="640080" y="3337560"/>
            <a:ext cx="3657600" cy="1188720"/>
          </a:xfrm>
          <a:prstGeom prst="rect">
            <a:avLst/>
          </a:prstGeom>
          <a:noFill/>
          <a:ln/>
        </p:spPr>
        <p:txBody>
          <a:bodyPr wrap="square" lIns="0" tIns="0" rIns="0" bIns="0" rtlCol="0" anchor="t"/>
          <a:lstStyle/>
          <a:p>
            <a:pPr indent="0" marL="0">
              <a:buNone/>
            </a:pPr>
            <a:r>
              <a:rPr lang="en-US" sz="1400" dirty="0">
                <a:solidFill>
                  <a:srgbClr val="1B1B1F"/>
                </a:solidFill>
              </a:rPr>
              <a:t>Clouds and angle change the power, so the panel charges a battery, and the battery runs the car. Solar garden lights work the same way.</a:t>
            </a:r>
            <a:endParaRPr lang="en-US" sz="1400" dirty="0"/>
          </a:p>
        </p:txBody>
      </p:sp>
      <p:sp>
        <p:nvSpPr>
          <p:cNvPr id="25" name="Shape 14"/>
          <p:cNvSpPr/>
          <p:nvPr/>
        </p:nvSpPr>
        <p:spPr>
          <a:xfrm>
            <a:off x="4709160" y="2834640"/>
            <a:ext cx="3977640" cy="1737360"/>
          </a:xfrm>
          <a:prstGeom prst="roundRect">
            <a:avLst>
              <a:gd name="adj" fmla="val 6316"/>
            </a:avLst>
          </a:prstGeom>
          <a:solidFill>
            <a:srgbClr val="E6F4EA"/>
          </a:solidFill>
          <a:ln w="12700">
            <a:solidFill>
              <a:srgbClr val="E6F4EA"/>
            </a:solidFill>
            <a:prstDash val="solid"/>
          </a:ln>
        </p:spPr>
      </p:sp>
      <p:sp>
        <p:nvSpPr>
          <p:cNvPr id="26" name="Text 15"/>
          <p:cNvSpPr txBox="1"/>
          <p:nvPr/>
        </p:nvSpPr>
        <p:spPr>
          <a:xfrm>
            <a:off x="4892040" y="2926080"/>
            <a:ext cx="3657600" cy="365760"/>
          </a:xfrm>
          <a:prstGeom prst="rect">
            <a:avLst/>
          </a:prstGeom>
          <a:noFill/>
          <a:ln/>
        </p:spPr>
        <p:txBody>
          <a:bodyPr wrap="square" lIns="0" tIns="0" rIns="0" bIns="0" rtlCol="0" anchor="t"/>
          <a:lstStyle/>
          <a:p>
            <a:pPr indent="0" marL="0">
              <a:buNone/>
            </a:pPr>
            <a:r>
              <a:rPr lang="en-US" sz="1600" b="1" dirty="0">
                <a:solidFill>
                  <a:srgbClr val="2E9E4F"/>
                </a:solidFill>
              </a:rPr>
              <a:t>Sun makes the battery last longer</a:t>
            </a:r>
            <a:endParaRPr lang="en-US" sz="1600" dirty="0"/>
          </a:p>
        </p:txBody>
      </p:sp>
      <p:sp>
        <p:nvSpPr>
          <p:cNvPr id="27" name="Text 16"/>
          <p:cNvSpPr txBox="1"/>
          <p:nvPr/>
        </p:nvSpPr>
        <p:spPr>
          <a:xfrm>
            <a:off x="4892040" y="3337560"/>
            <a:ext cx="3657600" cy="1188720"/>
          </a:xfrm>
          <a:prstGeom prst="rect">
            <a:avLst/>
          </a:prstGeom>
          <a:noFill/>
          <a:ln/>
        </p:spPr>
        <p:txBody>
          <a:bodyPr wrap="square" lIns="0" tIns="0" rIns="0" bIns="0" rtlCol="0" anchor="t"/>
          <a:lstStyle/>
          <a:p>
            <a:pPr indent="0" marL="0">
              <a:buNone/>
            </a:pPr>
            <a:r>
              <a:rPr lang="en-US" sz="1400" dirty="0">
                <a:solidFill>
                  <a:srgbClr val="1B1B1F"/>
                </a:solidFill>
              </a:rPr>
              <a:t>In the sun, the panel shares the load, so the battery does less work. Watch the solar power on the live dashboard.</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Computer: the car's two brains</a:t>
            </a:r>
            <a:endParaRPr lang="en-US" sz="3200" dirty="0"/>
          </a:p>
        </p:txBody>
      </p:sp>
      <p:sp>
        <p:nvSpPr>
          <p:cNvPr id="3" name="Shape 1"/>
          <p:cNvSpPr/>
          <p:nvPr/>
        </p:nvSpPr>
        <p:spPr>
          <a:xfrm>
            <a:off x="457200" y="1234440"/>
            <a:ext cx="4023360" cy="2560320"/>
          </a:xfrm>
          <a:prstGeom prst="roundRect">
            <a:avLst>
              <a:gd name="adj" fmla="val 4286"/>
            </a:avLst>
          </a:prstGeom>
          <a:solidFill>
            <a:srgbClr val="EEF3F8"/>
          </a:solidFill>
          <a:ln w="12700">
            <a:solidFill>
              <a:srgbClr val="EEF3F8"/>
            </a:solidFill>
            <a:prstDash val="solid"/>
          </a:ln>
        </p:spPr>
      </p:sp>
      <p:sp>
        <p:nvSpPr>
          <p:cNvPr id="4" name="Shape 2"/>
          <p:cNvSpPr/>
          <p:nvPr/>
        </p:nvSpPr>
        <p:spPr>
          <a:xfrm>
            <a:off x="685800" y="1417320"/>
            <a:ext cx="548640" cy="548640"/>
          </a:xfrm>
          <a:prstGeom prst="ellipse">
            <a:avLst/>
          </a:prstGeom>
          <a:solidFill>
            <a:srgbClr val="1C6EA4"/>
          </a:solidFill>
          <a:ln w="12700">
            <a:solidFill>
              <a:srgbClr val="1C6EA4"/>
            </a:solidFill>
            <a:prstDash val="solid"/>
          </a:ln>
        </p:spPr>
      </p:sp>
      <p:pic>
        <p:nvPicPr>
          <p:cNvPr id="5" name="Image 0" descr="preencoded.png">    </p:cNvPr>
          <p:cNvPicPr>
            <a:picLocks noChangeAspect="1"/>
          </p:cNvPicPr>
          <p:nvPr/>
        </p:nvPicPr>
        <p:blipFill>
          <a:blip r:embed="rId1"/>
          <a:stretch>
            <a:fillRect/>
          </a:stretch>
        </p:blipFill>
        <p:spPr>
          <a:xfrm>
            <a:off x="806501" y="1538021"/>
            <a:ext cx="307238" cy="307238"/>
          </a:xfrm>
          <a:prstGeom prst="rect">
            <a:avLst/>
          </a:prstGeom>
        </p:spPr>
      </p:pic>
      <p:sp>
        <p:nvSpPr>
          <p:cNvPr id="6" name="Text 3"/>
          <p:cNvSpPr txBox="1"/>
          <p:nvPr/>
        </p:nvSpPr>
        <p:spPr>
          <a:xfrm>
            <a:off x="1371600" y="1463040"/>
            <a:ext cx="3017520" cy="457200"/>
          </a:xfrm>
          <a:prstGeom prst="rect">
            <a:avLst/>
          </a:prstGeom>
          <a:noFill/>
          <a:ln/>
        </p:spPr>
        <p:txBody>
          <a:bodyPr wrap="square" lIns="0" tIns="0" rIns="0" bIns="0" rtlCol="0" anchor="ctr"/>
          <a:lstStyle/>
          <a:p>
            <a:pPr indent="0" marL="0">
              <a:buNone/>
            </a:pPr>
            <a:r>
              <a:rPr lang="en-US" sz="1700" b="1" dirty="0">
                <a:solidFill>
                  <a:srgbClr val="0B2545"/>
                </a:solidFill>
              </a:rPr>
              <a:t>ESP32: drives the car</a:t>
            </a:r>
            <a:endParaRPr lang="en-US" sz="1700" dirty="0"/>
          </a:p>
        </p:txBody>
      </p:sp>
      <p:sp>
        <p:nvSpPr>
          <p:cNvPr id="7" name="Text 4"/>
          <p:cNvSpPr txBox="1"/>
          <p:nvPr/>
        </p:nvSpPr>
        <p:spPr>
          <a:xfrm>
            <a:off x="731520" y="2148840"/>
            <a:ext cx="356616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B1B1F"/>
                </a:solidFill>
              </a:rPr>
              <a:t>Reads 4 distance sensors and 2 speed sensors</a:t>
            </a:r>
            <a:endParaRPr lang="en-US" sz="1500" dirty="0"/>
          </a:p>
          <a:p>
            <a:pPr marL="342900" indent="-342900">
              <a:spcAft>
                <a:spcPts val="400"/>
              </a:spcAft>
              <a:buSzPct val="100000"/>
              <a:buChar char="•"/>
            </a:pPr>
            <a:r>
              <a:rPr lang="en-US" sz="1500" dirty="0">
                <a:solidFill>
                  <a:srgbClr val="1B1B1F"/>
                </a:solidFill>
              </a:rPr>
              <a:t>Controls the 4 motors</a:t>
            </a:r>
            <a:endParaRPr lang="en-US" sz="1500" dirty="0"/>
          </a:p>
          <a:p>
            <a:pPr marL="342900" indent="-342900">
              <a:spcAft>
                <a:spcPts val="400"/>
              </a:spcAft>
              <a:buSzPct val="100000"/>
              <a:buChar char="•"/>
            </a:pPr>
            <a:r>
              <a:rPr lang="en-US" sz="1500" dirty="0">
                <a:solidFill>
                  <a:srgbClr val="1B1B1F"/>
                </a:solidFill>
              </a:rPr>
              <a:t>Runs the Wi-Fi and the dashboard</a:t>
            </a:r>
            <a:endParaRPr lang="en-US" sz="1500" dirty="0"/>
          </a:p>
        </p:txBody>
      </p:sp>
      <p:sp>
        <p:nvSpPr>
          <p:cNvPr id="8" name="Shape 5"/>
          <p:cNvSpPr/>
          <p:nvPr/>
        </p:nvSpPr>
        <p:spPr>
          <a:xfrm>
            <a:off x="4663440" y="1234440"/>
            <a:ext cx="4023360" cy="2560320"/>
          </a:xfrm>
          <a:prstGeom prst="roundRect">
            <a:avLst>
              <a:gd name="adj" fmla="val 4286"/>
            </a:avLst>
          </a:prstGeom>
          <a:solidFill>
            <a:srgbClr val="EEF3F8"/>
          </a:solidFill>
          <a:ln w="12700">
            <a:solidFill>
              <a:srgbClr val="EEF3F8"/>
            </a:solidFill>
            <a:prstDash val="solid"/>
          </a:ln>
        </p:spPr>
      </p:sp>
      <p:sp>
        <p:nvSpPr>
          <p:cNvPr id="9" name="Shape 6"/>
          <p:cNvSpPr/>
          <p:nvPr/>
        </p:nvSpPr>
        <p:spPr>
          <a:xfrm>
            <a:off x="4892040" y="1417320"/>
            <a:ext cx="548640" cy="548640"/>
          </a:xfrm>
          <a:prstGeom prst="ellipse">
            <a:avLst/>
          </a:prstGeom>
          <a:solidFill>
            <a:srgbClr val="2E9E4F"/>
          </a:solidFill>
          <a:ln w="12700">
            <a:solidFill>
              <a:srgbClr val="2E9E4F"/>
            </a:solidFill>
            <a:prstDash val="solid"/>
          </a:ln>
        </p:spPr>
      </p:sp>
      <p:pic>
        <p:nvPicPr>
          <p:cNvPr id="10" name="Image 1" descr="preencoded.png">    </p:cNvPr>
          <p:cNvPicPr>
            <a:picLocks noChangeAspect="1"/>
          </p:cNvPicPr>
          <p:nvPr/>
        </p:nvPicPr>
        <p:blipFill>
          <a:blip r:embed="rId2"/>
          <a:stretch>
            <a:fillRect/>
          </a:stretch>
        </p:blipFill>
        <p:spPr>
          <a:xfrm>
            <a:off x="5012741" y="1538021"/>
            <a:ext cx="307238" cy="307238"/>
          </a:xfrm>
          <a:prstGeom prst="rect">
            <a:avLst/>
          </a:prstGeom>
        </p:spPr>
      </p:pic>
      <p:sp>
        <p:nvSpPr>
          <p:cNvPr id="11" name="Text 7"/>
          <p:cNvSpPr txBox="1"/>
          <p:nvPr/>
        </p:nvSpPr>
        <p:spPr>
          <a:xfrm>
            <a:off x="5577840" y="1463040"/>
            <a:ext cx="3017520" cy="457200"/>
          </a:xfrm>
          <a:prstGeom prst="rect">
            <a:avLst/>
          </a:prstGeom>
          <a:noFill/>
          <a:ln/>
        </p:spPr>
        <p:txBody>
          <a:bodyPr wrap="square" lIns="0" tIns="0" rIns="0" bIns="0" rtlCol="0" anchor="ctr"/>
          <a:lstStyle/>
          <a:p>
            <a:pPr indent="0" marL="0">
              <a:buNone/>
            </a:pPr>
            <a:r>
              <a:rPr lang="en-US" sz="1700" b="1" dirty="0">
                <a:solidFill>
                  <a:srgbClr val="0B2545"/>
                </a:solidFill>
              </a:rPr>
              <a:t>Arduino Nano: runs the tracker</a:t>
            </a:r>
            <a:endParaRPr lang="en-US" sz="1700" dirty="0"/>
          </a:p>
        </p:txBody>
      </p:sp>
      <p:sp>
        <p:nvSpPr>
          <p:cNvPr id="12" name="Text 8"/>
          <p:cNvSpPr txBox="1"/>
          <p:nvPr/>
        </p:nvSpPr>
        <p:spPr>
          <a:xfrm>
            <a:off x="4937760" y="2148840"/>
            <a:ext cx="356616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B1B1F"/>
                </a:solidFill>
              </a:rPr>
              <a:t>Reads 4 light sensors</a:t>
            </a:r>
            <a:endParaRPr lang="en-US" sz="1500" dirty="0"/>
          </a:p>
          <a:p>
            <a:pPr marL="342900" indent="-342900">
              <a:spcAft>
                <a:spcPts val="400"/>
              </a:spcAft>
              <a:buSzPct val="100000"/>
              <a:buChar char="•"/>
            </a:pPr>
            <a:r>
              <a:rPr lang="en-US" sz="1500" dirty="0">
                <a:solidFill>
                  <a:srgbClr val="1B1B1F"/>
                </a:solidFill>
              </a:rPr>
              <a:t>Moves the 2 tracker motors</a:t>
            </a:r>
            <a:endParaRPr lang="en-US" sz="1500" dirty="0"/>
          </a:p>
          <a:p>
            <a:pPr marL="342900" indent="-342900">
              <a:spcAft>
                <a:spcPts val="400"/>
              </a:spcAft>
              <a:buSzPct val="100000"/>
              <a:buChar char="•"/>
            </a:pPr>
            <a:r>
              <a:rPr lang="en-US" sz="1500" dirty="0">
                <a:solidFill>
                  <a:srgbClr val="1B1B1F"/>
                </a:solidFill>
              </a:rPr>
              <a:t>Turns the panel to the brightest light</a:t>
            </a:r>
            <a:endParaRPr lang="en-US" sz="1500" dirty="0"/>
          </a:p>
        </p:txBody>
      </p:sp>
      <p:sp>
        <p:nvSpPr>
          <p:cNvPr id="13" name="Text 9"/>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500" i="1" dirty="0">
                <a:solidFill>
                  <a:srgbClr val="1C6EA4"/>
                </a:solidFill>
              </a:rPr>
              <a:t>A microcontroller is a small computer on a chip: it reads sensors, makes decisions and drives motors.</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Drive it from your phone</a:t>
            </a:r>
            <a:endParaRPr lang="en-US" sz="3200" dirty="0"/>
          </a:p>
        </p:txBody>
      </p:sp>
      <p:pic>
        <p:nvPicPr>
          <p:cNvPr id="3" name="Image 0" descr="preencoded.png">    </p:cNvPr>
          <p:cNvPicPr>
            <a:picLocks noChangeAspect="1"/>
          </p:cNvPicPr>
          <p:nvPr/>
        </p:nvPicPr>
        <p:blipFill>
          <a:blip r:embed="rId1"/>
          <a:stretch>
            <a:fillRect/>
          </a:stretch>
        </p:blipFill>
        <p:spPr>
          <a:xfrm>
            <a:off x="548640" y="1143000"/>
            <a:ext cx="2743200" cy="3429000"/>
          </a:xfrm>
          <a:prstGeom prst="rect">
            <a:avLst/>
          </a:prstGeom>
        </p:spPr>
      </p:pic>
      <p:sp>
        <p:nvSpPr>
          <p:cNvPr id="4" name="Shape 1"/>
          <p:cNvSpPr/>
          <p:nvPr/>
        </p:nvSpPr>
        <p:spPr>
          <a:xfrm>
            <a:off x="3657600" y="1234440"/>
            <a:ext cx="457200" cy="457200"/>
          </a:xfrm>
          <a:prstGeom prst="ellipse">
            <a:avLst/>
          </a:prstGeom>
          <a:solidFill>
            <a:srgbClr val="1C6EA4"/>
          </a:solidFill>
          <a:ln w="12700">
            <a:solidFill>
              <a:srgbClr val="1C6EA4"/>
            </a:solidFill>
            <a:prstDash val="solid"/>
          </a:ln>
        </p:spPr>
      </p:sp>
      <p:pic>
        <p:nvPicPr>
          <p:cNvPr id="5" name="Image 1" descr="preencoded.png">    </p:cNvPr>
          <p:cNvPicPr>
            <a:picLocks noChangeAspect="1"/>
          </p:cNvPicPr>
          <p:nvPr/>
        </p:nvPicPr>
        <p:blipFill>
          <a:blip r:embed="rId2"/>
          <a:stretch>
            <a:fillRect/>
          </a:stretch>
        </p:blipFill>
        <p:spPr>
          <a:xfrm>
            <a:off x="3758184" y="1335024"/>
            <a:ext cx="256032" cy="256032"/>
          </a:xfrm>
          <a:prstGeom prst="rect">
            <a:avLst/>
          </a:prstGeom>
        </p:spPr>
      </p:pic>
      <p:sp>
        <p:nvSpPr>
          <p:cNvPr id="6" name="Text 2"/>
          <p:cNvSpPr txBox="1"/>
          <p:nvPr/>
        </p:nvSpPr>
        <p:spPr>
          <a:xfrm>
            <a:off x="4297680" y="1188720"/>
            <a:ext cx="4389120" cy="320040"/>
          </a:xfrm>
          <a:prstGeom prst="rect">
            <a:avLst/>
          </a:prstGeom>
          <a:noFill/>
          <a:ln/>
        </p:spPr>
        <p:txBody>
          <a:bodyPr wrap="square" lIns="0" tIns="0" rIns="0" bIns="0" rtlCol="0" anchor="t"/>
          <a:lstStyle/>
          <a:p>
            <a:pPr indent="0" marL="0">
              <a:buNone/>
            </a:pPr>
            <a:r>
              <a:rPr lang="en-US" sz="1600" b="1" dirty="0">
                <a:solidFill>
                  <a:srgbClr val="0B2545"/>
                </a:solidFill>
              </a:rPr>
              <a:t>The car makes its own Wi-Fi network</a:t>
            </a:r>
            <a:endParaRPr lang="en-US" sz="1600" dirty="0"/>
          </a:p>
        </p:txBody>
      </p:sp>
      <p:sp>
        <p:nvSpPr>
          <p:cNvPr id="7" name="Text 3"/>
          <p:cNvSpPr txBox="1"/>
          <p:nvPr/>
        </p:nvSpPr>
        <p:spPr>
          <a:xfrm>
            <a:off x="4297680" y="1508760"/>
            <a:ext cx="4389120" cy="640080"/>
          </a:xfrm>
          <a:prstGeom prst="rect">
            <a:avLst/>
          </a:prstGeom>
          <a:noFill/>
          <a:ln/>
        </p:spPr>
        <p:txBody>
          <a:bodyPr wrap="square" lIns="0" tIns="0" rIns="0" bIns="0" rtlCol="0" anchor="t"/>
          <a:lstStyle/>
          <a:p>
            <a:pPr indent="0" marL="0">
              <a:buNone/>
            </a:pPr>
            <a:r>
              <a:rPr lang="en-US" sz="1400" dirty="0">
                <a:solidFill>
                  <a:srgbClr val="1B1B1F"/>
                </a:solidFill>
              </a:rPr>
              <a:t>Your phone connects straight to the car: an Internet of Things (IoT) link.</a:t>
            </a:r>
            <a:endParaRPr lang="en-US" sz="1400" dirty="0"/>
          </a:p>
        </p:txBody>
      </p:sp>
      <p:sp>
        <p:nvSpPr>
          <p:cNvPr id="8" name="Shape 4"/>
          <p:cNvSpPr/>
          <p:nvPr/>
        </p:nvSpPr>
        <p:spPr>
          <a:xfrm>
            <a:off x="3657600" y="2350008"/>
            <a:ext cx="457200" cy="457200"/>
          </a:xfrm>
          <a:prstGeom prst="ellipse">
            <a:avLst/>
          </a:prstGeom>
          <a:solidFill>
            <a:srgbClr val="1C6EA4"/>
          </a:solidFill>
          <a:ln w="12700">
            <a:solidFill>
              <a:srgbClr val="1C6EA4"/>
            </a:solidFill>
            <a:prstDash val="solid"/>
          </a:ln>
        </p:spPr>
      </p:sp>
      <p:pic>
        <p:nvPicPr>
          <p:cNvPr id="9" name="Image 2" descr="preencoded.png">    </p:cNvPr>
          <p:cNvPicPr>
            <a:picLocks noChangeAspect="1"/>
          </p:cNvPicPr>
          <p:nvPr/>
        </p:nvPicPr>
        <p:blipFill>
          <a:blip r:embed="rId3"/>
          <a:stretch>
            <a:fillRect/>
          </a:stretch>
        </p:blipFill>
        <p:spPr>
          <a:xfrm>
            <a:off x="3758184" y="2450592"/>
            <a:ext cx="256032" cy="256032"/>
          </a:xfrm>
          <a:prstGeom prst="rect">
            <a:avLst/>
          </a:prstGeom>
        </p:spPr>
      </p:pic>
      <p:sp>
        <p:nvSpPr>
          <p:cNvPr id="10" name="Text 5"/>
          <p:cNvSpPr txBox="1"/>
          <p:nvPr/>
        </p:nvSpPr>
        <p:spPr>
          <a:xfrm>
            <a:off x="4297680" y="2304288"/>
            <a:ext cx="4389120" cy="320040"/>
          </a:xfrm>
          <a:prstGeom prst="rect">
            <a:avLst/>
          </a:prstGeom>
          <a:noFill/>
          <a:ln/>
        </p:spPr>
        <p:txBody>
          <a:bodyPr wrap="square" lIns="0" tIns="0" rIns="0" bIns="0" rtlCol="0" anchor="t"/>
          <a:lstStyle/>
          <a:p>
            <a:pPr indent="0" marL="0">
              <a:buNone/>
            </a:pPr>
            <a:r>
              <a:rPr lang="en-US" sz="1600" b="1" dirty="0">
                <a:solidFill>
                  <a:srgbClr val="0B2545"/>
                </a:solidFill>
              </a:rPr>
              <a:t>The dashboard is a web page</a:t>
            </a:r>
            <a:endParaRPr lang="en-US" sz="1600" dirty="0"/>
          </a:p>
        </p:txBody>
      </p:sp>
      <p:sp>
        <p:nvSpPr>
          <p:cNvPr id="11" name="Text 6"/>
          <p:cNvSpPr txBox="1"/>
          <p:nvPr/>
        </p:nvSpPr>
        <p:spPr>
          <a:xfrm>
            <a:off x="4297680" y="2624328"/>
            <a:ext cx="4389120" cy="640080"/>
          </a:xfrm>
          <a:prstGeom prst="rect">
            <a:avLst/>
          </a:prstGeom>
          <a:noFill/>
          <a:ln/>
        </p:spPr>
        <p:txBody>
          <a:bodyPr wrap="square" lIns="0" tIns="0" rIns="0" bIns="0" rtlCol="0" anchor="t"/>
          <a:lstStyle/>
          <a:p>
            <a:pPr indent="0" marL="0">
              <a:buNone/>
            </a:pPr>
            <a:r>
              <a:rPr lang="en-US" sz="1400" dirty="0">
                <a:solidFill>
                  <a:srgbClr val="1B1B1F"/>
                </a:solidFill>
              </a:rPr>
              <a:t>HTML builds it, CSS styles it and JavaScript makes it work.</a:t>
            </a:r>
            <a:endParaRPr lang="en-US" sz="1400" dirty="0"/>
          </a:p>
        </p:txBody>
      </p:sp>
      <p:sp>
        <p:nvSpPr>
          <p:cNvPr id="12" name="Shape 7"/>
          <p:cNvSpPr/>
          <p:nvPr/>
        </p:nvSpPr>
        <p:spPr>
          <a:xfrm>
            <a:off x="3657600" y="3465576"/>
            <a:ext cx="457200" cy="457200"/>
          </a:xfrm>
          <a:prstGeom prst="ellipse">
            <a:avLst/>
          </a:prstGeom>
          <a:solidFill>
            <a:srgbClr val="1C6EA4"/>
          </a:solidFill>
          <a:ln w="12700">
            <a:solidFill>
              <a:srgbClr val="1C6EA4"/>
            </a:solidFill>
            <a:prstDash val="solid"/>
          </a:ln>
        </p:spPr>
      </p:sp>
      <p:pic>
        <p:nvPicPr>
          <p:cNvPr id="13" name="Image 3" descr="preencoded.png">    </p:cNvPr>
          <p:cNvPicPr>
            <a:picLocks noChangeAspect="1"/>
          </p:cNvPicPr>
          <p:nvPr/>
        </p:nvPicPr>
        <p:blipFill>
          <a:blip r:embed="rId4"/>
          <a:stretch>
            <a:fillRect/>
          </a:stretch>
        </p:blipFill>
        <p:spPr>
          <a:xfrm>
            <a:off x="3758184" y="3566160"/>
            <a:ext cx="256032" cy="256032"/>
          </a:xfrm>
          <a:prstGeom prst="rect">
            <a:avLst/>
          </a:prstGeom>
        </p:spPr>
      </p:pic>
      <p:sp>
        <p:nvSpPr>
          <p:cNvPr id="14" name="Text 8"/>
          <p:cNvSpPr txBox="1"/>
          <p:nvPr/>
        </p:nvSpPr>
        <p:spPr>
          <a:xfrm>
            <a:off x="4297680" y="3419856"/>
            <a:ext cx="4389120" cy="320040"/>
          </a:xfrm>
          <a:prstGeom prst="rect">
            <a:avLst/>
          </a:prstGeom>
          <a:noFill/>
          <a:ln/>
        </p:spPr>
        <p:txBody>
          <a:bodyPr wrap="square" lIns="0" tIns="0" rIns="0" bIns="0" rtlCol="0" anchor="t"/>
          <a:lstStyle/>
          <a:p>
            <a:pPr indent="0" marL="0">
              <a:buNone/>
            </a:pPr>
            <a:r>
              <a:rPr lang="en-US" sz="1600" b="1" dirty="0">
                <a:solidFill>
                  <a:srgbClr val="0B2545"/>
                </a:solidFill>
              </a:rPr>
              <a:t>Live data, 10 times a second</a:t>
            </a:r>
            <a:endParaRPr lang="en-US" sz="1600" dirty="0"/>
          </a:p>
        </p:txBody>
      </p:sp>
      <p:sp>
        <p:nvSpPr>
          <p:cNvPr id="15" name="Text 9"/>
          <p:cNvSpPr txBox="1"/>
          <p:nvPr/>
        </p:nvSpPr>
        <p:spPr>
          <a:xfrm>
            <a:off x="4297680" y="3739896"/>
            <a:ext cx="4389120" cy="640080"/>
          </a:xfrm>
          <a:prstGeom prst="rect">
            <a:avLst/>
          </a:prstGeom>
          <a:noFill/>
          <a:ln/>
        </p:spPr>
        <p:txBody>
          <a:bodyPr wrap="square" lIns="0" tIns="0" rIns="0" bIns="0" rtlCol="0" anchor="t"/>
          <a:lstStyle/>
          <a:p>
            <a:pPr indent="0" marL="0">
              <a:buNone/>
            </a:pPr>
            <a:r>
              <a:rPr lang="en-US" sz="1400" dirty="0">
                <a:solidFill>
                  <a:srgbClr val="1B1B1F"/>
                </a:solidFill>
              </a:rPr>
              <a:t>Speed, battery, solar power and distance sensors.</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One car, every kind of engineering</a:t>
            </a:r>
            <a:endParaRPr lang="en-US" sz="3200" dirty="0"/>
          </a:p>
        </p:txBody>
      </p:sp>
      <p:pic>
        <p:nvPicPr>
          <p:cNvPr id="3" name="Image 0" descr="preencoded.png">    </p:cNvPr>
          <p:cNvPicPr>
            <a:picLocks noChangeAspect="1"/>
          </p:cNvPicPr>
          <p:nvPr/>
        </p:nvPicPr>
        <p:blipFill>
          <a:blip r:embed="rId1"/>
          <a:stretch>
            <a:fillRect/>
          </a:stretch>
        </p:blipFill>
        <p:spPr>
          <a:xfrm>
            <a:off x="365760" y="1188720"/>
            <a:ext cx="4206240" cy="3136392"/>
          </a:xfrm>
          <a:prstGeom prst="rect">
            <a:avLst/>
          </a:prstGeom>
        </p:spPr>
      </p:pic>
      <p:sp>
        <p:nvSpPr>
          <p:cNvPr id="4" name="Shape 1"/>
          <p:cNvSpPr/>
          <p:nvPr/>
        </p:nvSpPr>
        <p:spPr>
          <a:xfrm>
            <a:off x="4846320" y="1234440"/>
            <a:ext cx="1828800" cy="1508760"/>
          </a:xfrm>
          <a:prstGeom prst="roundRect">
            <a:avLst>
              <a:gd name="adj" fmla="val 7273"/>
            </a:avLst>
          </a:prstGeom>
          <a:solidFill>
            <a:srgbClr val="2E9E4F"/>
          </a:solidFill>
          <a:ln w="12700">
            <a:solidFill>
              <a:srgbClr val="2E9E4F"/>
            </a:solidFill>
            <a:prstDash val="solid"/>
          </a:ln>
        </p:spPr>
      </p:sp>
      <p:sp>
        <p:nvSpPr>
          <p:cNvPr id="5" name="Text 2"/>
          <p:cNvSpPr txBox="1"/>
          <p:nvPr/>
        </p:nvSpPr>
        <p:spPr>
          <a:xfrm>
            <a:off x="4983480" y="1371600"/>
            <a:ext cx="1554480" cy="365760"/>
          </a:xfrm>
          <a:prstGeom prst="rect">
            <a:avLst/>
          </a:prstGeom>
          <a:noFill/>
          <a:ln/>
        </p:spPr>
        <p:txBody>
          <a:bodyPr wrap="square" lIns="0" tIns="0" rIns="0" bIns="0" rtlCol="0" anchor="t"/>
          <a:lstStyle/>
          <a:p>
            <a:pPr indent="0" marL="0">
              <a:buNone/>
            </a:pPr>
            <a:r>
              <a:rPr lang="en-US" sz="1500" b="1" dirty="0">
                <a:solidFill>
                  <a:srgbClr val="FFFFFF"/>
                </a:solidFill>
              </a:rPr>
              <a:t>Mechanical</a:t>
            </a:r>
            <a:endParaRPr lang="en-US" sz="1500" dirty="0"/>
          </a:p>
        </p:txBody>
      </p:sp>
      <p:sp>
        <p:nvSpPr>
          <p:cNvPr id="6" name="Text 3"/>
          <p:cNvSpPr txBox="1"/>
          <p:nvPr/>
        </p:nvSpPr>
        <p:spPr>
          <a:xfrm>
            <a:off x="4983480" y="1783080"/>
            <a:ext cx="1554480" cy="868680"/>
          </a:xfrm>
          <a:prstGeom prst="rect">
            <a:avLst/>
          </a:prstGeom>
          <a:noFill/>
          <a:ln/>
        </p:spPr>
        <p:txBody>
          <a:bodyPr wrap="square" lIns="0" tIns="0" rIns="0" bIns="0" rtlCol="0" anchor="t"/>
          <a:lstStyle/>
          <a:p>
            <a:pPr indent="0" marL="0">
              <a:buNone/>
            </a:pPr>
            <a:r>
              <a:rPr lang="en-US" sz="1300" dirty="0">
                <a:solidFill>
                  <a:srgbClr val="FFFFFF"/>
                </a:solidFill>
              </a:rPr>
              <a:t>Body, gears and the sun tracker</a:t>
            </a:r>
            <a:endParaRPr lang="en-US" sz="1300" dirty="0"/>
          </a:p>
        </p:txBody>
      </p:sp>
      <p:sp>
        <p:nvSpPr>
          <p:cNvPr id="7" name="Shape 4"/>
          <p:cNvSpPr/>
          <p:nvPr/>
        </p:nvSpPr>
        <p:spPr>
          <a:xfrm>
            <a:off x="6812280" y="1234440"/>
            <a:ext cx="1828800" cy="1508760"/>
          </a:xfrm>
          <a:prstGeom prst="roundRect">
            <a:avLst>
              <a:gd name="adj" fmla="val 7273"/>
            </a:avLst>
          </a:prstGeom>
          <a:solidFill>
            <a:srgbClr val="F2A900"/>
          </a:solidFill>
          <a:ln w="12700">
            <a:solidFill>
              <a:srgbClr val="F2A900"/>
            </a:solidFill>
            <a:prstDash val="solid"/>
          </a:ln>
        </p:spPr>
      </p:sp>
      <p:sp>
        <p:nvSpPr>
          <p:cNvPr id="8" name="Text 5"/>
          <p:cNvSpPr txBox="1"/>
          <p:nvPr/>
        </p:nvSpPr>
        <p:spPr>
          <a:xfrm>
            <a:off x="6949440" y="1371600"/>
            <a:ext cx="1554480" cy="365760"/>
          </a:xfrm>
          <a:prstGeom prst="rect">
            <a:avLst/>
          </a:prstGeom>
          <a:noFill/>
          <a:ln/>
        </p:spPr>
        <p:txBody>
          <a:bodyPr wrap="square" lIns="0" tIns="0" rIns="0" bIns="0" rtlCol="0" anchor="t"/>
          <a:lstStyle/>
          <a:p>
            <a:pPr indent="0" marL="0">
              <a:buNone/>
            </a:pPr>
            <a:r>
              <a:rPr lang="en-US" sz="1500" b="1" dirty="0">
                <a:solidFill>
                  <a:srgbClr val="0B2545"/>
                </a:solidFill>
              </a:rPr>
              <a:t>Electrical</a:t>
            </a:r>
            <a:endParaRPr lang="en-US" sz="1500" dirty="0"/>
          </a:p>
        </p:txBody>
      </p:sp>
      <p:sp>
        <p:nvSpPr>
          <p:cNvPr id="9" name="Text 6"/>
          <p:cNvSpPr txBox="1"/>
          <p:nvPr/>
        </p:nvSpPr>
        <p:spPr>
          <a:xfrm>
            <a:off x="6949440" y="1783080"/>
            <a:ext cx="1554480" cy="868680"/>
          </a:xfrm>
          <a:prstGeom prst="rect">
            <a:avLst/>
          </a:prstGeom>
          <a:noFill/>
          <a:ln/>
        </p:spPr>
        <p:txBody>
          <a:bodyPr wrap="square" lIns="0" tIns="0" rIns="0" bIns="0" rtlCol="0" anchor="t"/>
          <a:lstStyle/>
          <a:p>
            <a:pPr indent="0" marL="0">
              <a:buNone/>
            </a:pPr>
            <a:r>
              <a:rPr lang="en-US" sz="1300" dirty="0">
                <a:solidFill>
                  <a:srgbClr val="0B2545"/>
                </a:solidFill>
              </a:rPr>
              <a:t>Power circuits, motors and sensors</a:t>
            </a:r>
            <a:endParaRPr lang="en-US" sz="1300" dirty="0"/>
          </a:p>
        </p:txBody>
      </p:sp>
      <p:sp>
        <p:nvSpPr>
          <p:cNvPr id="10" name="Shape 7"/>
          <p:cNvSpPr/>
          <p:nvPr/>
        </p:nvSpPr>
        <p:spPr>
          <a:xfrm>
            <a:off x="4846320" y="2926080"/>
            <a:ext cx="1828800" cy="1508760"/>
          </a:xfrm>
          <a:prstGeom prst="roundRect">
            <a:avLst>
              <a:gd name="adj" fmla="val 7273"/>
            </a:avLst>
          </a:prstGeom>
          <a:solidFill>
            <a:srgbClr val="1C6EA4"/>
          </a:solidFill>
          <a:ln w="12700">
            <a:solidFill>
              <a:srgbClr val="1C6EA4"/>
            </a:solidFill>
            <a:prstDash val="solid"/>
          </a:ln>
        </p:spPr>
      </p:sp>
      <p:sp>
        <p:nvSpPr>
          <p:cNvPr id="11" name="Text 8"/>
          <p:cNvSpPr txBox="1"/>
          <p:nvPr/>
        </p:nvSpPr>
        <p:spPr>
          <a:xfrm>
            <a:off x="4983480" y="3063240"/>
            <a:ext cx="1554480" cy="365760"/>
          </a:xfrm>
          <a:prstGeom prst="rect">
            <a:avLst/>
          </a:prstGeom>
          <a:noFill/>
          <a:ln/>
        </p:spPr>
        <p:txBody>
          <a:bodyPr wrap="square" lIns="0" tIns="0" rIns="0" bIns="0" rtlCol="0" anchor="t"/>
          <a:lstStyle/>
          <a:p>
            <a:pPr indent="0" marL="0">
              <a:buNone/>
            </a:pPr>
            <a:r>
              <a:rPr lang="en-US" sz="1500" b="1" dirty="0">
                <a:solidFill>
                  <a:srgbClr val="FFFFFF"/>
                </a:solidFill>
              </a:rPr>
              <a:t>Computer</a:t>
            </a:r>
            <a:endParaRPr lang="en-US" sz="1500" dirty="0"/>
          </a:p>
        </p:txBody>
      </p:sp>
      <p:sp>
        <p:nvSpPr>
          <p:cNvPr id="12" name="Text 9"/>
          <p:cNvSpPr txBox="1"/>
          <p:nvPr/>
        </p:nvSpPr>
        <p:spPr>
          <a:xfrm>
            <a:off x="4983480" y="3474720"/>
            <a:ext cx="1554480" cy="868680"/>
          </a:xfrm>
          <a:prstGeom prst="rect">
            <a:avLst/>
          </a:prstGeom>
          <a:noFill/>
          <a:ln/>
        </p:spPr>
        <p:txBody>
          <a:bodyPr wrap="square" lIns="0" tIns="0" rIns="0" bIns="0" rtlCol="0" anchor="t"/>
          <a:lstStyle/>
          <a:p>
            <a:pPr indent="0" marL="0">
              <a:buNone/>
            </a:pPr>
            <a:r>
              <a:rPr lang="en-US" sz="1300" dirty="0">
                <a:solidFill>
                  <a:srgbClr val="FFFFFF"/>
                </a:solidFill>
              </a:rPr>
              <a:t>Two microcontrollers and the dashboard</a:t>
            </a:r>
            <a:endParaRPr lang="en-US" sz="1300" dirty="0"/>
          </a:p>
        </p:txBody>
      </p:sp>
      <p:sp>
        <p:nvSpPr>
          <p:cNvPr id="13" name="Shape 10"/>
          <p:cNvSpPr/>
          <p:nvPr/>
        </p:nvSpPr>
        <p:spPr>
          <a:xfrm>
            <a:off x="6812280" y="2926080"/>
            <a:ext cx="1828800" cy="1508760"/>
          </a:xfrm>
          <a:prstGeom prst="roundRect">
            <a:avLst>
              <a:gd name="adj" fmla="val 7273"/>
            </a:avLst>
          </a:prstGeom>
          <a:solidFill>
            <a:srgbClr val="D97B00"/>
          </a:solidFill>
          <a:ln w="12700">
            <a:solidFill>
              <a:srgbClr val="D97B00"/>
            </a:solidFill>
            <a:prstDash val="solid"/>
          </a:ln>
        </p:spPr>
      </p:sp>
      <p:sp>
        <p:nvSpPr>
          <p:cNvPr id="14" name="Text 11"/>
          <p:cNvSpPr txBox="1"/>
          <p:nvPr/>
        </p:nvSpPr>
        <p:spPr>
          <a:xfrm>
            <a:off x="6949440" y="3063240"/>
            <a:ext cx="1554480" cy="365760"/>
          </a:xfrm>
          <a:prstGeom prst="rect">
            <a:avLst/>
          </a:prstGeom>
          <a:noFill/>
          <a:ln/>
        </p:spPr>
        <p:txBody>
          <a:bodyPr wrap="square" lIns="0" tIns="0" rIns="0" bIns="0" rtlCol="0" anchor="t"/>
          <a:lstStyle/>
          <a:p>
            <a:pPr indent="0" marL="0">
              <a:buNone/>
            </a:pPr>
            <a:r>
              <a:rPr lang="en-US" sz="1500" b="1" dirty="0">
                <a:solidFill>
                  <a:srgbClr val="FFFFFF"/>
                </a:solidFill>
              </a:rPr>
              <a:t>Renewable energy</a:t>
            </a:r>
            <a:endParaRPr lang="en-US" sz="1500" dirty="0"/>
          </a:p>
        </p:txBody>
      </p:sp>
      <p:sp>
        <p:nvSpPr>
          <p:cNvPr id="15" name="Text 12"/>
          <p:cNvSpPr txBox="1"/>
          <p:nvPr/>
        </p:nvSpPr>
        <p:spPr>
          <a:xfrm>
            <a:off x="6949440" y="3474720"/>
            <a:ext cx="1554480" cy="868680"/>
          </a:xfrm>
          <a:prstGeom prst="rect">
            <a:avLst/>
          </a:prstGeom>
          <a:noFill/>
          <a:ln/>
        </p:spPr>
        <p:txBody>
          <a:bodyPr wrap="square" lIns="0" tIns="0" rIns="0" bIns="0" rtlCol="0" anchor="t"/>
          <a:lstStyle/>
          <a:p>
            <a:pPr indent="0" marL="0">
              <a:buNone/>
            </a:pPr>
            <a:r>
              <a:rPr lang="en-US" sz="1300" dirty="0">
                <a:solidFill>
                  <a:srgbClr val="FFFFFF"/>
                </a:solidFill>
              </a:rPr>
              <a:t>Solar panel charging the battery</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How to get here</a:t>
            </a:r>
            <a:endParaRPr lang="en-US" sz="3200" dirty="0"/>
          </a:p>
        </p:txBody>
      </p:sp>
      <p:sp>
        <p:nvSpPr>
          <p:cNvPr id="3" name="Shape 1"/>
          <p:cNvSpPr/>
          <p:nvPr/>
        </p:nvSpPr>
        <p:spPr>
          <a:xfrm>
            <a:off x="457200" y="1234440"/>
            <a:ext cx="2606040" cy="2743200"/>
          </a:xfrm>
          <a:prstGeom prst="roundRect">
            <a:avLst>
              <a:gd name="adj" fmla="val 4211"/>
            </a:avLst>
          </a:prstGeom>
          <a:solidFill>
            <a:srgbClr val="EEF3F8"/>
          </a:solidFill>
          <a:ln w="12700">
            <a:solidFill>
              <a:srgbClr val="EEF3F8"/>
            </a:solidFill>
            <a:prstDash val="solid"/>
          </a:ln>
        </p:spPr>
      </p:sp>
      <p:sp>
        <p:nvSpPr>
          <p:cNvPr id="4" name="Shape 2"/>
          <p:cNvSpPr/>
          <p:nvPr/>
        </p:nvSpPr>
        <p:spPr>
          <a:xfrm>
            <a:off x="1417320" y="1417320"/>
            <a:ext cx="685800" cy="68580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1"/>
          <a:stretch>
            <a:fillRect/>
          </a:stretch>
        </p:blipFill>
        <p:spPr>
          <a:xfrm>
            <a:off x="1568196" y="1568196"/>
            <a:ext cx="384048" cy="384048"/>
          </a:xfrm>
          <a:prstGeom prst="rect">
            <a:avLst/>
          </a:prstGeom>
        </p:spPr>
      </p:pic>
      <p:sp>
        <p:nvSpPr>
          <p:cNvPr id="6" name="Text 3"/>
          <p:cNvSpPr txBox="1"/>
          <p:nvPr/>
        </p:nvSpPr>
        <p:spPr>
          <a:xfrm>
            <a:off x="640080" y="2240280"/>
            <a:ext cx="2240280" cy="411480"/>
          </a:xfrm>
          <a:prstGeom prst="rect">
            <a:avLst/>
          </a:prstGeom>
          <a:noFill/>
          <a:ln/>
        </p:spPr>
        <p:txBody>
          <a:bodyPr wrap="square" lIns="0" tIns="0" rIns="0" bIns="0" rtlCol="0" anchor="t"/>
          <a:lstStyle/>
          <a:p>
            <a:pPr algn="ctr" indent="0" marL="0">
              <a:buNone/>
            </a:pPr>
            <a:r>
              <a:rPr lang="en-US" sz="1800" b="1" dirty="0">
                <a:solidFill>
                  <a:srgbClr val="0B2545"/>
                </a:solidFill>
              </a:rPr>
              <a:t>Grades 11–12</a:t>
            </a:r>
            <a:endParaRPr lang="en-US" sz="1800" dirty="0"/>
          </a:p>
        </p:txBody>
      </p:sp>
      <p:sp>
        <p:nvSpPr>
          <p:cNvPr id="7" name="Text 4"/>
          <p:cNvSpPr txBox="1"/>
          <p:nvPr/>
        </p:nvSpPr>
        <p:spPr>
          <a:xfrm>
            <a:off x="640080" y="2697480"/>
            <a:ext cx="2240280" cy="1188720"/>
          </a:xfrm>
          <a:prstGeom prst="rect">
            <a:avLst/>
          </a:prstGeom>
          <a:noFill/>
          <a:ln/>
        </p:spPr>
        <p:txBody>
          <a:bodyPr wrap="square" lIns="0" tIns="0" rIns="0" bIns="0" rtlCol="0" anchor="t"/>
          <a:lstStyle/>
          <a:p>
            <a:pPr algn="ctr" indent="0" marL="0">
              <a:buNone/>
            </a:pPr>
            <a:r>
              <a:rPr lang="en-US" sz="1400" dirty="0">
                <a:solidFill>
                  <a:srgbClr val="1B1B1F"/>
                </a:solidFill>
              </a:rPr>
              <a:t>Take Mathematics (not Maths Literacy) and Physical Sciences, and aim high in both.</a:t>
            </a:r>
            <a:endParaRPr lang="en-US" sz="1400" dirty="0"/>
          </a:p>
        </p:txBody>
      </p:sp>
      <p:sp>
        <p:nvSpPr>
          <p:cNvPr id="8" name="Shape 5"/>
          <p:cNvSpPr/>
          <p:nvPr/>
        </p:nvSpPr>
        <p:spPr>
          <a:xfrm>
            <a:off x="3246120" y="1234440"/>
            <a:ext cx="2606040" cy="2743200"/>
          </a:xfrm>
          <a:prstGeom prst="roundRect">
            <a:avLst>
              <a:gd name="adj" fmla="val 4211"/>
            </a:avLst>
          </a:prstGeom>
          <a:solidFill>
            <a:srgbClr val="EEF3F8"/>
          </a:solidFill>
          <a:ln w="12700">
            <a:solidFill>
              <a:srgbClr val="EEF3F8"/>
            </a:solidFill>
            <a:prstDash val="solid"/>
          </a:ln>
        </p:spPr>
      </p:sp>
      <p:sp>
        <p:nvSpPr>
          <p:cNvPr id="9" name="Shape 6"/>
          <p:cNvSpPr/>
          <p:nvPr/>
        </p:nvSpPr>
        <p:spPr>
          <a:xfrm>
            <a:off x="4206240" y="1417320"/>
            <a:ext cx="685800" cy="685800"/>
          </a:xfrm>
          <a:prstGeom prst="ellipse">
            <a:avLst/>
          </a:prstGeom>
          <a:solidFill>
            <a:srgbClr val="0B2545"/>
          </a:solidFill>
          <a:ln w="12700">
            <a:solidFill>
              <a:srgbClr val="0B2545"/>
            </a:solidFill>
            <a:prstDash val="solid"/>
          </a:ln>
        </p:spPr>
      </p:sp>
      <p:pic>
        <p:nvPicPr>
          <p:cNvPr id="10" name="Image 1" descr="preencoded.png">    </p:cNvPr>
          <p:cNvPicPr>
            <a:picLocks noChangeAspect="1"/>
          </p:cNvPicPr>
          <p:nvPr/>
        </p:nvPicPr>
        <p:blipFill>
          <a:blip r:embed="rId2"/>
          <a:stretch>
            <a:fillRect/>
          </a:stretch>
        </p:blipFill>
        <p:spPr>
          <a:xfrm>
            <a:off x="4357116" y="1568196"/>
            <a:ext cx="384048" cy="384048"/>
          </a:xfrm>
          <a:prstGeom prst="rect">
            <a:avLst/>
          </a:prstGeom>
        </p:spPr>
      </p:pic>
      <p:sp>
        <p:nvSpPr>
          <p:cNvPr id="11" name="Text 7"/>
          <p:cNvSpPr txBox="1"/>
          <p:nvPr/>
        </p:nvSpPr>
        <p:spPr>
          <a:xfrm>
            <a:off x="3429000" y="2240280"/>
            <a:ext cx="2240280" cy="411480"/>
          </a:xfrm>
          <a:prstGeom prst="rect">
            <a:avLst/>
          </a:prstGeom>
          <a:noFill/>
          <a:ln/>
        </p:spPr>
        <p:txBody>
          <a:bodyPr wrap="square" lIns="0" tIns="0" rIns="0" bIns="0" rtlCol="0" anchor="t"/>
          <a:lstStyle/>
          <a:p>
            <a:pPr algn="ctr" indent="0" marL="0">
              <a:buNone/>
            </a:pPr>
            <a:r>
              <a:rPr lang="en-US" sz="1800" b="1" dirty="0">
                <a:solidFill>
                  <a:srgbClr val="0B2545"/>
                </a:solidFill>
              </a:rPr>
              <a:t>University</a:t>
            </a:r>
            <a:endParaRPr lang="en-US" sz="1800" dirty="0"/>
          </a:p>
        </p:txBody>
      </p:sp>
      <p:sp>
        <p:nvSpPr>
          <p:cNvPr id="12" name="Text 8"/>
          <p:cNvSpPr txBox="1"/>
          <p:nvPr/>
        </p:nvSpPr>
        <p:spPr>
          <a:xfrm>
            <a:off x="3429000" y="2697480"/>
            <a:ext cx="2240280" cy="1188720"/>
          </a:xfrm>
          <a:prstGeom prst="rect">
            <a:avLst/>
          </a:prstGeom>
          <a:noFill/>
          <a:ln/>
        </p:spPr>
        <p:txBody>
          <a:bodyPr wrap="square" lIns="0" tIns="0" rIns="0" bIns="0" rtlCol="0" anchor="t"/>
          <a:lstStyle/>
          <a:p>
            <a:pPr algn="ctr" indent="0" marL="0">
              <a:buNone/>
            </a:pPr>
            <a:r>
              <a:rPr lang="en-US" sz="1400" dirty="0">
                <a:solidFill>
                  <a:srgbClr val="1B1B1F"/>
                </a:solidFill>
              </a:rPr>
              <a:t>A 4-year engineering degree, such as a BSc in Engineering.</a:t>
            </a:r>
            <a:endParaRPr lang="en-US" sz="1400" dirty="0"/>
          </a:p>
        </p:txBody>
      </p:sp>
      <p:sp>
        <p:nvSpPr>
          <p:cNvPr id="13" name="Shape 9"/>
          <p:cNvSpPr/>
          <p:nvPr/>
        </p:nvSpPr>
        <p:spPr>
          <a:xfrm>
            <a:off x="6035040" y="1234440"/>
            <a:ext cx="2606040" cy="2743200"/>
          </a:xfrm>
          <a:prstGeom prst="roundRect">
            <a:avLst>
              <a:gd name="adj" fmla="val 4211"/>
            </a:avLst>
          </a:prstGeom>
          <a:solidFill>
            <a:srgbClr val="EEF3F8"/>
          </a:solidFill>
          <a:ln w="12700">
            <a:solidFill>
              <a:srgbClr val="EEF3F8"/>
            </a:solidFill>
            <a:prstDash val="solid"/>
          </a:ln>
        </p:spPr>
      </p:sp>
      <p:sp>
        <p:nvSpPr>
          <p:cNvPr id="14" name="Shape 10"/>
          <p:cNvSpPr/>
          <p:nvPr/>
        </p:nvSpPr>
        <p:spPr>
          <a:xfrm>
            <a:off x="6995160" y="1417320"/>
            <a:ext cx="685800" cy="685800"/>
          </a:xfrm>
          <a:prstGeom prst="ellipse">
            <a:avLst/>
          </a:prstGeom>
          <a:solidFill>
            <a:srgbClr val="2E9E4F"/>
          </a:solidFill>
          <a:ln w="12700">
            <a:solidFill>
              <a:srgbClr val="2E9E4F"/>
            </a:solidFill>
            <a:prstDash val="solid"/>
          </a:ln>
        </p:spPr>
      </p:sp>
      <p:pic>
        <p:nvPicPr>
          <p:cNvPr id="15" name="Image 2" descr="preencoded.png">    </p:cNvPr>
          <p:cNvPicPr>
            <a:picLocks noChangeAspect="1"/>
          </p:cNvPicPr>
          <p:nvPr/>
        </p:nvPicPr>
        <p:blipFill>
          <a:blip r:embed="rId3"/>
          <a:stretch>
            <a:fillRect/>
          </a:stretch>
        </p:blipFill>
        <p:spPr>
          <a:xfrm>
            <a:off x="7146036" y="1568196"/>
            <a:ext cx="384048" cy="384048"/>
          </a:xfrm>
          <a:prstGeom prst="rect">
            <a:avLst/>
          </a:prstGeom>
        </p:spPr>
      </p:pic>
      <p:sp>
        <p:nvSpPr>
          <p:cNvPr id="16" name="Text 11"/>
          <p:cNvSpPr txBox="1"/>
          <p:nvPr/>
        </p:nvSpPr>
        <p:spPr>
          <a:xfrm>
            <a:off x="6217920" y="2240280"/>
            <a:ext cx="2240280" cy="411480"/>
          </a:xfrm>
          <a:prstGeom prst="rect">
            <a:avLst/>
          </a:prstGeom>
          <a:noFill/>
          <a:ln/>
        </p:spPr>
        <p:txBody>
          <a:bodyPr wrap="square" lIns="0" tIns="0" rIns="0" bIns="0" rtlCol="0" anchor="t"/>
          <a:lstStyle/>
          <a:p>
            <a:pPr algn="ctr" indent="0" marL="0">
              <a:buNone/>
            </a:pPr>
            <a:r>
              <a:rPr lang="en-US" sz="1800" b="1" dirty="0">
                <a:solidFill>
                  <a:srgbClr val="0B2545"/>
                </a:solidFill>
              </a:rPr>
              <a:t>Explore</a:t>
            </a:r>
            <a:endParaRPr lang="en-US" sz="1800" dirty="0"/>
          </a:p>
        </p:txBody>
      </p:sp>
      <p:sp>
        <p:nvSpPr>
          <p:cNvPr id="17" name="Text 12"/>
          <p:cNvSpPr txBox="1"/>
          <p:nvPr/>
        </p:nvSpPr>
        <p:spPr>
          <a:xfrm>
            <a:off x="6217920" y="2697480"/>
            <a:ext cx="2240280" cy="1188720"/>
          </a:xfrm>
          <a:prstGeom prst="rect">
            <a:avLst/>
          </a:prstGeom>
          <a:noFill/>
          <a:ln/>
        </p:spPr>
        <p:txBody>
          <a:bodyPr wrap="square" lIns="0" tIns="0" rIns="0" bIns="0" rtlCol="0" anchor="t"/>
          <a:lstStyle/>
          <a:p>
            <a:pPr algn="ctr" indent="0" marL="0">
              <a:buNone/>
            </a:pPr>
            <a:r>
              <a:rPr lang="en-US" sz="1400" dirty="0">
                <a:solidFill>
                  <a:srgbClr val="1B1B1F"/>
                </a:solidFill>
              </a:rPr>
              <a:t>Mechatronics, Electrical, Mechanical, Civil, Chemical and Computer engineering, and renewable energy.</a:t>
            </a:r>
            <a:endParaRPr lang="en-US" sz="1400" dirty="0"/>
          </a:p>
        </p:txBody>
      </p:sp>
      <p:sp>
        <p:nvSpPr>
          <p:cNvPr id="18" name="Text 13"/>
          <p:cNvSpPr txBox="1"/>
          <p:nvPr/>
        </p:nvSpPr>
        <p:spPr>
          <a:xfrm>
            <a:off x="457200" y="4160520"/>
            <a:ext cx="8229600" cy="411480"/>
          </a:xfrm>
          <a:prstGeom prst="rect">
            <a:avLst/>
          </a:prstGeom>
          <a:noFill/>
          <a:ln/>
        </p:spPr>
        <p:txBody>
          <a:bodyPr wrap="square" lIns="0" tIns="0" rIns="0" bIns="0" rtlCol="0" anchor="t"/>
          <a:lstStyle/>
          <a:p>
            <a:pPr algn="ctr" indent="0" marL="0">
              <a:buNone/>
            </a:pPr>
            <a:r>
              <a:rPr lang="en-US" sz="1600" i="1" dirty="0">
                <a:solidFill>
                  <a:srgbClr val="1C6EA4"/>
                </a:solidFill>
              </a:rPr>
              <a:t>I started exactly where you are now, in Grade 11.</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B2545"/>
                </a:solidFill>
              </a:rPr>
              <a:t>Your turn: the maze challenge</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57200" y="1188720"/>
            <a:ext cx="4572000" cy="2569464"/>
          </a:xfrm>
          <a:prstGeom prst="rect">
            <a:avLst/>
          </a:prstGeom>
        </p:spPr>
      </p:pic>
      <p:sp>
        <p:nvSpPr>
          <p:cNvPr id="4" name="Shape 1"/>
          <p:cNvSpPr/>
          <p:nvPr/>
        </p:nvSpPr>
        <p:spPr>
          <a:xfrm>
            <a:off x="5303520" y="1188720"/>
            <a:ext cx="457200" cy="45720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4"/>
          <a:stretch>
            <a:fillRect/>
          </a:stretch>
        </p:blipFill>
        <p:spPr>
          <a:xfrm>
            <a:off x="5404104" y="1289304"/>
            <a:ext cx="256032" cy="256032"/>
          </a:xfrm>
          <a:prstGeom prst="rect">
            <a:avLst/>
          </a:prstGeom>
        </p:spPr>
      </p:pic>
      <p:sp>
        <p:nvSpPr>
          <p:cNvPr id="6" name="Text 2"/>
          <p:cNvSpPr txBox="1"/>
          <p:nvPr/>
        </p:nvSpPr>
        <p:spPr>
          <a:xfrm>
            <a:off x="5897880" y="1143000"/>
            <a:ext cx="2788920" cy="548640"/>
          </a:xfrm>
          <a:prstGeom prst="rect">
            <a:avLst/>
          </a:prstGeom>
          <a:noFill/>
          <a:ln/>
        </p:spPr>
        <p:txBody>
          <a:bodyPr wrap="square" lIns="0" tIns="0" rIns="0" bIns="0" rtlCol="0" anchor="ctr"/>
          <a:lstStyle/>
          <a:p>
            <a:pPr indent="0" marL="0">
              <a:buNone/>
            </a:pPr>
            <a:r>
              <a:rPr lang="en-US" sz="1400" dirty="0">
                <a:solidFill>
                  <a:srgbClr val="1B1B1F"/>
                </a:solidFill>
              </a:rPr>
              <a:t>Drive in pairs: one run each</a:t>
            </a:r>
            <a:endParaRPr lang="en-US" sz="1400" dirty="0"/>
          </a:p>
        </p:txBody>
      </p:sp>
      <p:sp>
        <p:nvSpPr>
          <p:cNvPr id="7" name="Shape 3"/>
          <p:cNvSpPr/>
          <p:nvPr/>
        </p:nvSpPr>
        <p:spPr>
          <a:xfrm>
            <a:off x="5303520" y="1847088"/>
            <a:ext cx="457200" cy="457200"/>
          </a:xfrm>
          <a:prstGeom prst="ellipse">
            <a:avLst/>
          </a:prstGeom>
          <a:solidFill>
            <a:srgbClr val="F2A900"/>
          </a:solidFill>
          <a:ln w="12700">
            <a:solidFill>
              <a:srgbClr val="F2A900"/>
            </a:solidFill>
            <a:prstDash val="solid"/>
          </a:ln>
        </p:spPr>
      </p:sp>
      <p:pic>
        <p:nvPicPr>
          <p:cNvPr id="8" name="Image 1" descr="preencoded.png">    </p:cNvPr>
          <p:cNvPicPr>
            <a:picLocks noChangeAspect="1"/>
          </p:cNvPicPr>
          <p:nvPr/>
        </p:nvPicPr>
        <p:blipFill>
          <a:blip r:embed="rId5"/>
          <a:stretch>
            <a:fillRect/>
          </a:stretch>
        </p:blipFill>
        <p:spPr>
          <a:xfrm>
            <a:off x="5404104" y="1947672"/>
            <a:ext cx="256032" cy="256032"/>
          </a:xfrm>
          <a:prstGeom prst="rect">
            <a:avLst/>
          </a:prstGeom>
        </p:spPr>
      </p:pic>
      <p:sp>
        <p:nvSpPr>
          <p:cNvPr id="9" name="Text 4"/>
          <p:cNvSpPr txBox="1"/>
          <p:nvPr/>
        </p:nvSpPr>
        <p:spPr>
          <a:xfrm>
            <a:off x="5897880" y="1801368"/>
            <a:ext cx="2788920" cy="548640"/>
          </a:xfrm>
          <a:prstGeom prst="rect">
            <a:avLst/>
          </a:prstGeom>
          <a:noFill/>
          <a:ln/>
        </p:spPr>
        <p:txBody>
          <a:bodyPr wrap="square" lIns="0" tIns="0" rIns="0" bIns="0" rtlCol="0" anchor="ctr"/>
          <a:lstStyle/>
          <a:p>
            <a:pPr indent="0" marL="0">
              <a:buNone/>
            </a:pPr>
            <a:r>
              <a:rPr lang="en-US" sz="1400" dirty="0">
                <a:solidFill>
                  <a:srgbClr val="1B1B1F"/>
                </a:solidFill>
              </a:rPr>
              <a:t>One run in manual, one with co-pilot on</a:t>
            </a:r>
            <a:endParaRPr lang="en-US" sz="1400" dirty="0"/>
          </a:p>
        </p:txBody>
      </p:sp>
      <p:sp>
        <p:nvSpPr>
          <p:cNvPr id="10" name="Shape 5"/>
          <p:cNvSpPr/>
          <p:nvPr/>
        </p:nvSpPr>
        <p:spPr>
          <a:xfrm>
            <a:off x="5303520" y="2505456"/>
            <a:ext cx="457200" cy="457200"/>
          </a:xfrm>
          <a:prstGeom prst="ellipse">
            <a:avLst/>
          </a:prstGeom>
          <a:solidFill>
            <a:srgbClr val="F2A900"/>
          </a:solidFill>
          <a:ln w="12700">
            <a:solidFill>
              <a:srgbClr val="F2A900"/>
            </a:solidFill>
            <a:prstDash val="solid"/>
          </a:ln>
        </p:spPr>
      </p:sp>
      <p:pic>
        <p:nvPicPr>
          <p:cNvPr id="11" name="Image 2" descr="preencoded.png">    </p:cNvPr>
          <p:cNvPicPr>
            <a:picLocks noChangeAspect="1"/>
          </p:cNvPicPr>
          <p:nvPr/>
        </p:nvPicPr>
        <p:blipFill>
          <a:blip r:embed="rId6"/>
          <a:stretch>
            <a:fillRect/>
          </a:stretch>
        </p:blipFill>
        <p:spPr>
          <a:xfrm>
            <a:off x="5404104" y="2606040"/>
            <a:ext cx="256032" cy="256032"/>
          </a:xfrm>
          <a:prstGeom prst="rect">
            <a:avLst/>
          </a:prstGeom>
        </p:spPr>
      </p:pic>
      <p:sp>
        <p:nvSpPr>
          <p:cNvPr id="12" name="Text 6"/>
          <p:cNvSpPr txBox="1"/>
          <p:nvPr/>
        </p:nvSpPr>
        <p:spPr>
          <a:xfrm>
            <a:off x="5897880" y="2459736"/>
            <a:ext cx="2788920" cy="548640"/>
          </a:xfrm>
          <a:prstGeom prst="rect">
            <a:avLst/>
          </a:prstGeom>
          <a:noFill/>
          <a:ln/>
        </p:spPr>
        <p:txBody>
          <a:bodyPr wrap="square" lIns="0" tIns="0" rIns="0" bIns="0" rtlCol="0" anchor="ctr"/>
          <a:lstStyle/>
          <a:p>
            <a:pPr indent="0" marL="0">
              <a:buNone/>
            </a:pPr>
            <a:r>
              <a:rPr lang="en-US" sz="1400" dirty="0">
                <a:solidFill>
                  <a:srgbClr val="1B1B1F"/>
                </a:solidFill>
              </a:rPr>
              <a:t>Co-pilot helps steer around walls and stops before a crash</a:t>
            </a:r>
            <a:endParaRPr lang="en-US" sz="1400" dirty="0"/>
          </a:p>
        </p:txBody>
      </p:sp>
      <p:sp>
        <p:nvSpPr>
          <p:cNvPr id="13" name="Shape 7"/>
          <p:cNvSpPr/>
          <p:nvPr/>
        </p:nvSpPr>
        <p:spPr>
          <a:xfrm>
            <a:off x="5303520" y="3163824"/>
            <a:ext cx="457200" cy="457200"/>
          </a:xfrm>
          <a:prstGeom prst="ellipse">
            <a:avLst/>
          </a:prstGeom>
          <a:solidFill>
            <a:srgbClr val="D6E2EE"/>
          </a:solidFill>
          <a:ln w="12700">
            <a:solidFill>
              <a:srgbClr val="D6E2EE"/>
            </a:solidFill>
            <a:prstDash val="solid"/>
          </a:ln>
        </p:spPr>
      </p:sp>
      <p:pic>
        <p:nvPicPr>
          <p:cNvPr id="14" name="Image 3" descr="preencoded.png">    </p:cNvPr>
          <p:cNvPicPr>
            <a:picLocks noChangeAspect="1"/>
          </p:cNvPicPr>
          <p:nvPr/>
        </p:nvPicPr>
        <p:blipFill>
          <a:blip r:embed="rId7"/>
          <a:stretch>
            <a:fillRect/>
          </a:stretch>
        </p:blipFill>
        <p:spPr>
          <a:xfrm>
            <a:off x="5404104" y="3264408"/>
            <a:ext cx="256032" cy="256032"/>
          </a:xfrm>
          <a:prstGeom prst="rect">
            <a:avLst/>
          </a:prstGeom>
        </p:spPr>
      </p:pic>
      <p:sp>
        <p:nvSpPr>
          <p:cNvPr id="15" name="Text 8"/>
          <p:cNvSpPr txBox="1"/>
          <p:nvPr/>
        </p:nvSpPr>
        <p:spPr>
          <a:xfrm>
            <a:off x="5897880" y="3118104"/>
            <a:ext cx="2788920" cy="548640"/>
          </a:xfrm>
          <a:prstGeom prst="rect">
            <a:avLst/>
          </a:prstGeom>
          <a:noFill/>
          <a:ln/>
        </p:spPr>
        <p:txBody>
          <a:bodyPr wrap="square" lIns="0" tIns="0" rIns="0" bIns="0" rtlCol="0" anchor="ctr"/>
          <a:lstStyle/>
          <a:p>
            <a:pPr indent="0" marL="0">
              <a:buNone/>
            </a:pPr>
            <a:r>
              <a:rPr lang="en-US" sz="1400" dirty="0">
                <a:solidFill>
                  <a:srgbClr val="1B1B1F"/>
                </a:solidFill>
              </a:rPr>
              <a:t>Everyone: watch the live dashboard on the screen</a:t>
            </a:r>
            <a:endParaRPr lang="en-US" sz="1400" dirty="0"/>
          </a:p>
        </p:txBody>
      </p:sp>
      <p:sp>
        <p:nvSpPr>
          <p:cNvPr id="16" name="Text 9"/>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600" b="1" dirty="0">
                <a:solidFill>
                  <a:srgbClr val="0B2545"/>
                </a:solidFill>
              </a:rPr>
              <a:t>Try both modes and decide for yourself: does co-pilot make a difference?</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754880" cy="1463040"/>
          </a:xfrm>
          <a:prstGeom prst="rect">
            <a:avLst/>
          </a:prstGeom>
          <a:noFill/>
          <a:ln/>
        </p:spPr>
        <p:txBody>
          <a:bodyPr wrap="square" lIns="0" tIns="0" rIns="0" bIns="0" rtlCol="0" anchor="b"/>
          <a:lstStyle/>
          <a:p>
            <a:pPr algn="l" indent="0" marL="0">
              <a:buNone/>
            </a:pPr>
            <a:r>
              <a:rPr lang="en-US" sz="4000" b="1" dirty="0">
                <a:solidFill>
                  <a:srgbClr val="FFFFFF"/>
                </a:solidFill>
              </a:rPr>
              <a:t>Questions?</a:t>
            </a:r>
            <a:endParaRPr lang="en-US" sz="4000" dirty="0"/>
          </a:p>
        </p:txBody>
      </p:sp>
      <p:sp>
        <p:nvSpPr>
          <p:cNvPr id="3" name="Text 0"/>
          <p:cNvSpPr/>
          <p:nvPr>
            <p:ph idx="101" type="body" hasCustomPrompt="1"/>
          </p:nvPr>
        </p:nvSpPr>
        <p:spPr>
          <a:xfrm>
            <a:off x="548640" y="2971800"/>
            <a:ext cx="4754880" cy="1097280"/>
          </a:xfrm>
          <a:prstGeom prst="rect">
            <a:avLst/>
          </a:prstGeom>
          <a:noFill/>
          <a:ln/>
        </p:spPr>
        <p:txBody>
          <a:bodyPr wrap="square" lIns="0" tIns="0" rIns="0" bIns="0" rtlCol="0" anchor="t"/>
          <a:lstStyle/>
          <a:p>
            <a:pPr algn="l" indent="0" marL="0">
              <a:buNone/>
            </a:pPr>
            <a:r>
              <a:rPr lang="en-US" sz="1800" dirty="0">
                <a:solidFill>
                  <a:srgbClr val="CADCFC"/>
                </a:solidFill>
              </a:rPr>
              <a:t>Then: the maze challenge, then Side 2 of your sheet</a:t>
            </a:r>
            <a:endParaRPr lang="en-US" sz="1800" dirty="0"/>
          </a:p>
        </p:txBody>
      </p:sp>
      <p:sp>
        <p:nvSpPr>
          <p:cNvPr id="4" name="Shape 2"/>
          <p:cNvSpPr/>
          <p:nvPr/>
        </p:nvSpPr>
        <p:spPr>
          <a:xfrm>
            <a:off x="6035040" y="1188720"/>
            <a:ext cx="2377440" cy="2377440"/>
          </a:xfrm>
          <a:prstGeom prst="ellipse">
            <a:avLst/>
          </a:prstGeom>
          <a:solidFill>
            <a:srgbClr val="F2A900"/>
          </a:solidFill>
          <a:ln w="12700">
            <a:solidFill>
              <a:srgbClr val="F2A900"/>
            </a:solidFill>
            <a:prstDash val="solid"/>
          </a:ln>
        </p:spPr>
      </p:sp>
      <p:pic>
        <p:nvPicPr>
          <p:cNvPr id="5" name="Image 0" descr="preencoded.png">    </p:cNvPr>
          <p:cNvPicPr>
            <a:picLocks noChangeAspect="1"/>
          </p:cNvPicPr>
          <p:nvPr/>
        </p:nvPicPr>
        <p:blipFill>
          <a:blip r:embed="rId1"/>
          <a:stretch>
            <a:fillRect/>
          </a:stretch>
        </p:blipFill>
        <p:spPr>
          <a:xfrm>
            <a:off x="6720840" y="1874520"/>
            <a:ext cx="1005840" cy="1005840"/>
          </a:xfrm>
          <a:prstGeom prst="rect">
            <a:avLst/>
          </a:prstGeom>
        </p:spPr>
      </p:pic>
    </p:spTree>
  </p:cSld>
  <p:clrMapOvr>
    <a:masterClrMapping/>
  </p:clrMapOvr>
</p:sld>
</file>

<file path=ppt/theme/theme1.xml><?xml version="1.0" encoding="utf-8"?>
<a:theme xmlns:a="http://schemas.openxmlformats.org/drawingml/2006/main" name="Solar Car Outreach">
  <a:themeElements>
    <a:clrScheme name="Solar Car Outreach">
      <a:dk1>
        <a:srgbClr val="1B1B1F"/>
      </a:dk1>
      <a:lt1>
        <a:srgbClr val="FFFFFF"/>
      </a:lt1>
      <a:dk2>
        <a:srgbClr val="0B2545"/>
      </a:dk2>
      <a:lt2>
        <a:srgbClr val="EEF3F8"/>
      </a:lt2>
      <a:accent1>
        <a:srgbClr val="F2A900"/>
      </a:accent1>
      <a:accent2>
        <a:srgbClr val="2E9E4F"/>
      </a:accent2>
      <a:accent3>
        <a:srgbClr val="1C6EA4"/>
      </a:accent3>
      <a:accent4>
        <a:srgbClr val="D9534F"/>
      </a:accent4>
      <a:accent5>
        <a:srgbClr val="8A97A8"/>
      </a:accent5>
      <a:accent6>
        <a:srgbClr val="5B3E96"/>
      </a:accent6>
      <a:hlink>
        <a:srgbClr val="1C6EA4"/>
      </a:hlink>
      <a:folHlink>
        <a:srgbClr val="5B3E96"/>
      </a:folHlink>
    </a:clrScheme>
    <a:fontScheme name="Solar Car Outrea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a Solar Car</dc:title>
  <dc:subject>PptxGenJS Presentation</dc:subject>
  <dc:creator>Jonathan Tirkaso</dc:creator>
  <cp:lastModifiedBy>Jonathan Tirkaso</cp:lastModifiedBy>
  <cp:revision>1</cp:revision>
  <dcterms:created xsi:type="dcterms:W3CDTF">2026-10-25T18:25:18Z</dcterms:created>
  <dcterms:modified xsi:type="dcterms:W3CDTF">2026-10-25T18:25:18Z</dcterms:modified>
</cp:coreProperties>
</file>